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90" r:id="rId13"/>
    <p:sldId id="267" r:id="rId14"/>
    <p:sldId id="268" r:id="rId15"/>
    <p:sldId id="269" r:id="rId16"/>
    <p:sldId id="283" r:id="rId17"/>
    <p:sldId id="284" r:id="rId18"/>
    <p:sldId id="285" r:id="rId19"/>
    <p:sldId id="286" r:id="rId20"/>
    <p:sldId id="287" r:id="rId21"/>
    <p:sldId id="288" r:id="rId22"/>
    <p:sldId id="289" r:id="rId23"/>
    <p:sldId id="271" r:id="rId24"/>
    <p:sldId id="272" r:id="rId25"/>
    <p:sldId id="273" r:id="rId26"/>
    <p:sldId id="281" r:id="rId27"/>
    <p:sldId id="280" r:id="rId28"/>
    <p:sldId id="274" r:id="rId29"/>
    <p:sldId id="275" r:id="rId30"/>
    <p:sldId id="276" r:id="rId31"/>
    <p:sldId id="277" r:id="rId32"/>
    <p:sldId id="278" r:id="rId3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2035"/>
    <a:srgbClr val="A98D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345F00-5625-F478-2B1C-C0A89860A5E3}" v="4" dt="2026-05-25T15:24:46.490"/>
    <p1510:client id="{44F689E6-EEA4-2BA0-895F-90EBE47B0745}" v="1" dt="2026-05-25T01:14:52.727"/>
    <p1510:client id="{92C0D528-1BB9-E80B-77EC-E642EA6C5A00}" v="708" dt="2026-05-25T14:57:48.177"/>
    <p1510:client id="{B0602E4A-C8F7-E0A3-66BA-7B3B3EAF43BE}" v="1" dt="2026-05-25T10:10:52.894"/>
    <p1510:client id="{B3ED74BD-3466-FE98-B813-0F115053386B}" v="18" dt="2026-05-24T21:49:42.969"/>
    <p1510:client id="{CB8115BB-D215-578F-5661-0DC7EF215826}" v="61" dt="2026-05-24T11:25:51.277"/>
    <p1510:client id="{F010D3E3-DBF1-7D7A-376B-E5221C1A2104}" v="19" dt="2026-05-25T14:00:04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6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56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156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65C6D8-4FD4-4BC3-8E2B-6349C30C6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C4F1DEF-E378-AFFA-E616-F8FF55EB6C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7D34573-F1A6-581F-5EC7-CCE9282D06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7964CA6-6BBE-4460-9152-E728411599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974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96CBF4-E3E5-531F-4665-3E34A3B10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61ED248-E0C8-DB5D-5C39-A60F8FA8F4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2913628-56A7-AC32-3B04-90E2CE8150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B96A408-2127-0822-EC7B-642DF5CCE0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6668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D9B0826-A7E4-959E-E937-D30703C31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915BEE4-4E72-E445-1712-98CD3E5420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31F1E89-54D5-09E2-3DF0-E33A5C1DA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A5E659B-83ED-D6D8-EBD1-23D123B4D0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478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93B1687-A722-D00B-64D5-130256540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786C02F3-E8AA-D0E3-5843-41B1A283E0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1AFF7890-DC04-430D-4AA0-580617ABE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456C5B0-3D11-1EA2-7817-E1AF325630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150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9A42A3-E282-23E0-6990-C47E8DF14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59F77B8E-AFF9-BAA8-0977-A45BE5D74D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7F03CC9C-2FC0-C113-83C0-52DFB022D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753C5B7-E088-8F7B-2564-7039257B12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5443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6DAFFE6-B900-D6B9-D3E9-44665F818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E65720E-CF6B-1879-BF72-F7DD0F90E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AE66CB8-8DBB-29C8-1A7B-A36ECF65C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AA799F0-B508-FCC7-6469-EA9BBF1478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112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A61A446-637A-9C1C-0557-8280406CB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0A17D406-7316-FCEA-3873-3D482A6FF3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5CF776D-2345-0D09-351E-92B592FD86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CAC9BD0-D807-4CAC-F0F0-696620EECA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154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>
                <a:solidFill>
                  <a:prstClr val="black"/>
                </a:solidFill>
              </a:rPr>
              <a:pPr/>
              <a:t>27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9575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23360" y="50292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000">
              <a:solidFill>
                <a:prstClr val="black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6000" b="1" kern="0" spc="12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THOTH</a:t>
            </a:r>
            <a:endParaRPr lang="en-US" sz="600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i="1" kern="0" spc="3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Museum Guide Robot</a:t>
            </a:r>
            <a:endParaRPr lang="en-US" sz="2000">
              <a:solidFill>
                <a:prstClr val="black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Graduation Project I — Final Presentation</a:t>
            </a: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" y="35844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Computer Engineering Department · AASTMT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9502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1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Supervised by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Dr.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Marwa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Elshenawy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 ·   Dr. Mohamed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Elhabrouk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00" b="1" kern="0" spc="1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Presented by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 Leena Gouda –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Nayrouz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Ahmed –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– Youssef Waleed – </a:t>
            </a:r>
            <a:r>
              <a:rPr lang="en-US" sz="1000" kern="0" spc="100" err="1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000" kern="0" spc="100">
                <a:solidFill>
                  <a:srgbClr val="152035"/>
                </a:solidFill>
                <a:ea typeface="Calibri" pitchFamily="34" charset="-122"/>
                <a:cs typeface="Calibri" pitchFamily="34" charset="-120"/>
              </a:rPr>
              <a:t> Khaled – Mohamed Eldairouty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kern="0" spc="400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2026 - 2027</a:t>
            </a:r>
            <a:endParaRPr lang="en-US" sz="1200">
              <a:solidFill>
                <a:prstClr val="black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580" y="365430"/>
            <a:ext cx="1213060" cy="1213060"/>
          </a:xfrm>
          <a:prstGeom prst="rect">
            <a:avLst/>
          </a:prstGeom>
        </p:spPr>
      </p:pic>
      <p:sp>
        <p:nvSpPr>
          <p:cNvPr id="24" name="Shape 1"/>
          <p:cNvSpPr/>
          <p:nvPr/>
        </p:nvSpPr>
        <p:spPr>
          <a:xfrm>
            <a:off x="3703320" y="310896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"/>
          <p:cNvSpPr/>
          <p:nvPr/>
        </p:nvSpPr>
        <p:spPr>
          <a:xfrm>
            <a:off x="4892040" y="310896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3"/>
          <p:cNvSpPr/>
          <p:nvPr/>
        </p:nvSpPr>
        <p:spPr>
          <a:xfrm>
            <a:off x="4361688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Shape 4"/>
          <p:cNvSpPr/>
          <p:nvPr/>
        </p:nvSpPr>
        <p:spPr>
          <a:xfrm>
            <a:off x="4526280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5"/>
          <p:cNvSpPr/>
          <p:nvPr/>
        </p:nvSpPr>
        <p:spPr>
          <a:xfrm>
            <a:off x="4690872" y="306324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87711" y="4822344"/>
            <a:ext cx="57341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9501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01694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5824728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its first month, the Grand Egyptian Museum became the third most-visited museum in the world — drawing up to 19,000 visitors a day.</a:t>
            </a:r>
            <a:endParaRPr lang="en-US" sz="1500"/>
          </a:p>
          <a:p>
            <a:pPr marL="0" indent="0">
              <a:spcAft>
                <a:spcPts val="600"/>
              </a:spcAft>
              <a:buNone/>
            </a:pPr>
            <a:r>
              <a:rPr lang="en-US" sz="15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45% of those visitors come from outside Egypt, often without a personal guide. Audio handsets play the same one-language script to a child and a researcher, can't answer a follow-up question, and leave international visitors without usable narration.</a:t>
            </a:r>
            <a:endParaRPr lang="en-US" sz="1500"/>
          </a:p>
          <a:p>
            <a:pPr marL="0" indent="0">
              <a:spcAft>
                <a:spcPts val="60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/>
          </a:p>
          <a:p>
            <a:pPr marL="0" indent="0">
              <a:spcAft>
                <a:spcPts val="600"/>
              </a:spcAft>
              <a:buNone/>
            </a:pPr>
            <a:r>
              <a:rPr lang="en-US" sz="15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is an autonomous robot built for this gap: it walks visitors through the halls, talks with them in their own language, reads their mood to adjust how it speaks, and is accessible by design.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6446520" y="1325880"/>
            <a:ext cx="0" cy="315468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583680" y="149047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766560" y="14173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Navigation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6583680" y="208483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766560" y="201168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Conversation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6583680" y="267919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766560" y="260604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+ Age Awareness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583680" y="3273552"/>
            <a:ext cx="109728" cy="10972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766560" y="32004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(EN · AR · FR …)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502920" y="12801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Enough Human Guides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73152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Museums can't staff a personal guide for every visitor. At peak hours most people walk through with no narration at all.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4709160" y="12801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937760" y="13898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Barriers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Tours run in one or two languages. International visitors get a leaflet and silence.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3152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Script for Everyone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guides play the same monologue to a curious 9-year-old, a researcher, and a passing tourist.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4709160" y="2880360"/>
            <a:ext cx="3931920" cy="14173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4709160" y="2880360"/>
            <a:ext cx="73152" cy="1417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4937760" y="299008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Accessibility Gaps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4937760" y="33375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who are deaf, blind, in wheelchairs, or non-native speakers are treated as edge cases, not as the default.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are not minor inconveniences — they affect millions of museum visits every year.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900" dirty="0"/>
          </a:p>
        </p:txBody>
      </p:sp>
      <p:sp>
        <p:nvSpPr>
          <p:cNvPr id="24" name="Shape 1"/>
          <p:cNvSpPr/>
          <p:nvPr/>
        </p:nvSpPr>
        <p:spPr>
          <a:xfrm>
            <a:off x="555217" y="941832"/>
            <a:ext cx="301686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8107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Aims &amp; Objectives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Aims &amp; Objectives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80635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94360" y="13624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94360" y="1362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autonomous robot that navigates a real museum floor with live obstacle avoidance.</a:t>
            </a:r>
            <a:endParaRPr lang="en-US" sz="1350"/>
          </a:p>
        </p:txBody>
      </p:sp>
      <p:sp>
        <p:nvSpPr>
          <p:cNvPr id="7" name="Shape 5"/>
          <p:cNvSpPr/>
          <p:nvPr/>
        </p:nvSpPr>
        <p:spPr>
          <a:xfrm>
            <a:off x="594360" y="18196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94360" y="1819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1143000" y="1783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real conversation in English, Arabic, French, and more — by text or voice.</a:t>
            </a:r>
          </a:p>
        </p:txBody>
      </p:sp>
      <p:sp>
        <p:nvSpPr>
          <p:cNvPr id="10" name="Shape 8"/>
          <p:cNvSpPr/>
          <p:nvPr/>
        </p:nvSpPr>
        <p:spPr>
          <a:xfrm>
            <a:off x="594360" y="22768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94360" y="2276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1143000" y="2240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visitor's mood and age in real time, and adjust tone and pace.</a:t>
            </a:r>
            <a:endParaRPr lang="en-US" sz="1350"/>
          </a:p>
        </p:txBody>
      </p:sp>
      <p:sp>
        <p:nvSpPr>
          <p:cNvPr id="13" name="Shape 11"/>
          <p:cNvSpPr/>
          <p:nvPr/>
        </p:nvSpPr>
        <p:spPr>
          <a:xfrm>
            <a:off x="594360" y="27340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9436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143000" y="26974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production-grade touchscreen web app: exhibit browsing, map, chat, settings.</a:t>
            </a:r>
            <a:endParaRPr lang="en-US" sz="1350"/>
          </a:p>
        </p:txBody>
      </p:sp>
      <p:sp>
        <p:nvSpPr>
          <p:cNvPr id="16" name="Shape 14"/>
          <p:cNvSpPr/>
          <p:nvPr/>
        </p:nvSpPr>
        <p:spPr>
          <a:xfrm>
            <a:off x="594360" y="31912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94360" y="3191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accessibility as default: captions, large fonts, audio narration, RTL support.</a:t>
            </a:r>
            <a:endParaRPr lang="en-US" sz="1350"/>
          </a:p>
        </p:txBody>
      </p:sp>
      <p:sp>
        <p:nvSpPr>
          <p:cNvPr id="19" name="Shape 17"/>
          <p:cNvSpPr/>
          <p:nvPr/>
        </p:nvSpPr>
        <p:spPr>
          <a:xfrm>
            <a:off x="594360" y="3648456"/>
            <a:ext cx="384048" cy="384048"/>
          </a:xfrm>
          <a:prstGeom prst="ellipse">
            <a:avLst/>
          </a:prstGeom>
          <a:solidFill>
            <a:srgbClr val="EDE4D0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94360" y="3648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1143000" y="36118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it customizable — one system, many venues: museums, airports, hospitals, expos.</a:t>
            </a:r>
          </a:p>
        </p:txBody>
      </p:sp>
      <p:sp>
        <p:nvSpPr>
          <p:cNvPr id="22" name="Shape 20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24949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Survey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707677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6790963"/>
              </p:ext>
            </p:extLst>
          </p:nvPr>
        </p:nvGraphicFramePr>
        <p:xfrm>
          <a:off x="548640" y="1325880"/>
          <a:ext cx="8046720" cy="23317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7F2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7F2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F7F2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Lacks</a:t>
                      </a:r>
                      <a:endParaRPr lang="en-US" sz="11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Pepper (SoftBank)</a:t>
                      </a:r>
                      <a:endParaRPr lang="en-US" sz="11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interaction, multilingual touchscreen</a:t>
                      </a:r>
                      <a:endParaRPr lang="en-US" sz="11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autonomous navigation in large halls</a:t>
                      </a:r>
                      <a:endParaRPr lang="en-US" sz="11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Cruzr</a:t>
                      </a:r>
                      <a:r>
                        <a:rPr lang="en-US" sz="115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(UBTECH)</a:t>
                      </a: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Conversation, face recognition, mobility</a:t>
                      </a:r>
                      <a:endParaRPr lang="en-US" sz="11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— not built for museums</a:t>
                      </a:r>
                      <a:endParaRPr lang="en-US" sz="11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CAPIO (Carnegie Mellon)</a:t>
                      </a:r>
                      <a:endParaRPr lang="en-US" sz="11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Museum tour scripts, speech interaction</a:t>
                      </a:r>
                      <a:endParaRPr lang="en-US" sz="11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emotion detection, no personalization</a:t>
                      </a:r>
                      <a:endParaRPr lang="en-US" sz="11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err="1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InBot</a:t>
                      </a:r>
                      <a:r>
                        <a:rPr lang="en-US" sz="115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 Museum Guide</a:t>
                      </a: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Touchscreen tours, exhibit info</a:t>
                      </a:r>
                      <a:endParaRPr lang="en-US" sz="11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paths only, no real autonomy</a:t>
                      </a:r>
                      <a:endParaRPr lang="en-US" sz="115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931920"/>
            <a:ext cx="8046720" cy="59436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existing system combines autonomous navigation, conversational LLM, real-time mood / age recognition, and full multilingual support. THOTH does.</a:t>
            </a:r>
            <a:endParaRPr lang="en-US" sz="1150"/>
          </a:p>
        </p:txBody>
      </p:sp>
      <p:sp>
        <p:nvSpPr>
          <p:cNvPr id="7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9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854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Model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315468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3703320" y="2514600"/>
            <a:ext cx="173736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3703320" y="2514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Brain</a:t>
            </a:r>
            <a:endParaRPr lang="en-US" sz="1300"/>
          </a:p>
          <a:p>
            <a:pPr marL="0" indent="0" algn="ctr">
              <a:buNone/>
            </a:pPr>
            <a:r>
              <a:rPr lang="en-US" sz="900">
                <a:solidFill>
                  <a:srgbClr val="ED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Mini-PC 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594360" y="132588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&amp; Hardware</a:t>
            </a:r>
            <a:endParaRPr lang="en-US" sz="1150"/>
          </a:p>
          <a:p>
            <a:pPr marL="0" indent="0">
              <a:buNone/>
            </a:pPr>
            <a:r>
              <a:rPr lang="en-US" sz="9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· RGB-D · Mic · Speaker</a:t>
            </a:r>
            <a:endParaRPr lang="en-US" sz="115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150"/>
          </a:p>
          <a:p>
            <a:pPr marL="0" indent="0">
              <a:buNone/>
            </a:pPr>
            <a:r>
              <a:rPr lang="en-US" sz="9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 2 · Nav2 · SLAM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594360" y="352044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31520" y="3520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Motors</a:t>
            </a:r>
            <a:endParaRPr lang="en-US" sz="1150"/>
          </a:p>
          <a:p>
            <a:pPr marL="0" indent="0">
              <a:buNone/>
            </a:pPr>
            <a:r>
              <a:rPr lang="en-US" sz="9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motors · drivers · LiPo</a:t>
            </a:r>
            <a:endParaRPr lang="en-US" sz="1150"/>
          </a:p>
        </p:txBody>
      </p:sp>
      <p:sp>
        <p:nvSpPr>
          <p:cNvPr id="12" name="Shape 10"/>
          <p:cNvSpPr/>
          <p:nvPr/>
        </p:nvSpPr>
        <p:spPr>
          <a:xfrm>
            <a:off x="6355080" y="132588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92240" y="13258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</a:t>
            </a:r>
            <a:endParaRPr lang="en-US" sz="1150"/>
          </a:p>
          <a:p>
            <a:pPr marL="0" indent="0">
              <a:buNone/>
            </a:pPr>
            <a:r>
              <a:rPr lang="en-US" sz="9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FastAPI · PostgreSQL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6355080" y="242316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492240" y="242316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Conversation</a:t>
            </a:r>
            <a:endParaRPr lang="en-US" sz="1150"/>
          </a:p>
          <a:p>
            <a:pPr marL="0" indent="0">
              <a:buNone/>
            </a:pPr>
            <a:r>
              <a:rPr lang="en-US" sz="9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 · Whisper · edge-tts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6355080" y="3520440"/>
            <a:ext cx="2194560" cy="73152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92240" y="35204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150"/>
          </a:p>
          <a:p>
            <a:pPr marL="0" indent="0">
              <a:buNone/>
            </a:pPr>
            <a:r>
              <a:rPr lang="en-US" sz="9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DeepFace (mood + age)</a:t>
            </a:r>
            <a:endParaRPr lang="en-US" sz="1150"/>
          </a:p>
        </p:txBody>
      </p:sp>
      <p:sp>
        <p:nvSpPr>
          <p:cNvPr id="22" name="Shape 20"/>
          <p:cNvSpPr/>
          <p:nvPr/>
        </p:nvSpPr>
        <p:spPr>
          <a:xfrm>
            <a:off x="6355080" y="2788920"/>
            <a:ext cx="0" cy="4572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6355080" y="3886200"/>
            <a:ext cx="0" cy="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331470" y="221326"/>
            <a:ext cx="6286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1800" b="1" i="0" dirty="0">
                <a:solidFill>
                  <a:srgbClr val="152035"/>
                </a:solidFill>
                <a:latin typeface="Georgia"/>
              </a:rPr>
              <a:t>ROS 2 — Node &amp; Topic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342900" y="587866"/>
            <a:ext cx="5715000" cy="160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765" b="0" i="1" dirty="0">
                <a:solidFill>
                  <a:srgbClr val="6B6759"/>
                </a:solidFill>
                <a:latin typeface="Calibri"/>
              </a:rPr>
              <a:t>Runtime communication: sensing  →  Nav2 navigation  →  web-app docent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77990" y="251460"/>
            <a:ext cx="217170" cy="114300"/>
          </a:xfrm>
          <a:prstGeom prst="roundRect">
            <a:avLst>
              <a:gd name="adj" fmla="val 50000"/>
            </a:avLst>
          </a:prstGeom>
          <a:solidFill>
            <a:srgbClr val="F7F2E7"/>
          </a:solidFill>
          <a:ln w="5715">
            <a:solidFill>
              <a:srgbClr val="152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29450" y="228600"/>
            <a:ext cx="914400" cy="160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675" b="0" i="0">
                <a:solidFill>
                  <a:srgbClr val="152035"/>
                </a:solidFill>
                <a:latin typeface="Calibri"/>
              </a:rPr>
              <a:t>ROS node</a:t>
            </a:r>
          </a:p>
        </p:txBody>
      </p:sp>
      <p:sp>
        <p:nvSpPr>
          <p:cNvPr id="8" name="Rectangle 7"/>
          <p:cNvSpPr/>
          <p:nvPr/>
        </p:nvSpPr>
        <p:spPr>
          <a:xfrm>
            <a:off x="6777990" y="434340"/>
            <a:ext cx="217170" cy="114300"/>
          </a:xfrm>
          <a:prstGeom prst="rect">
            <a:avLst/>
          </a:prstGeom>
          <a:solidFill>
            <a:srgbClr val="EDE4D0"/>
          </a:solidFill>
          <a:ln w="8572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029450" y="411480"/>
            <a:ext cx="914400" cy="160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675" b="0" i="0">
                <a:solidFill>
                  <a:srgbClr val="152035"/>
                </a:solidFill>
                <a:latin typeface="Calibri"/>
              </a:rPr>
              <a:t>Process group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89420" y="674370"/>
            <a:ext cx="205740" cy="0"/>
          </a:xfrm>
          <a:prstGeom prst="line">
            <a:avLst/>
          </a:prstGeom>
          <a:ln w="14288">
            <a:solidFill>
              <a:srgbClr val="C9A84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029450" y="617220"/>
            <a:ext cx="1257300" cy="1600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675" b="0" i="0">
                <a:solidFill>
                  <a:srgbClr val="152035"/>
                </a:solidFill>
                <a:latin typeface="Calibri"/>
              </a:rPr>
              <a:t>Topic (pub → sub)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105" y="826303"/>
            <a:ext cx="1028700" cy="320040"/>
          </a:xfrm>
          <a:prstGeom prst="roundRect">
            <a:avLst>
              <a:gd name="adj" fmla="val 50000"/>
            </a:avLst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5" b="1" i="0" dirty="0">
                <a:solidFill>
                  <a:srgbClr val="F7F2E7"/>
                </a:solidFill>
                <a:latin typeface="Georgia"/>
              </a:rPr>
              <a:t>LiDAR Driver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14900" y="954405"/>
            <a:ext cx="1028700" cy="320040"/>
          </a:xfrm>
          <a:prstGeom prst="roundRect">
            <a:avLst>
              <a:gd name="adj" fmla="val 50000"/>
            </a:avLst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5" b="1" i="0">
                <a:solidFill>
                  <a:srgbClr val="F7F2E7"/>
                </a:solidFill>
                <a:latin typeface="Georgia"/>
              </a:rPr>
              <a:t>Camera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805" y="1485900"/>
            <a:ext cx="2457450" cy="1828800"/>
          </a:xfrm>
          <a:prstGeom prst="roundRect">
            <a:avLst>
              <a:gd name="adj" fmla="val 5000"/>
            </a:avLst>
          </a:prstGeom>
          <a:solidFill>
            <a:srgbClr val="EDE4D0"/>
          </a:solidFill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9105" y="1543050"/>
            <a:ext cx="142875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990" b="1" i="0">
                <a:solidFill>
                  <a:srgbClr val="A8862E"/>
                </a:solidFill>
                <a:latin typeface="Georgia"/>
              </a:rPr>
              <a:t>Nav2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255" y="1828800"/>
            <a:ext cx="1028700" cy="342900"/>
          </a:xfrm>
          <a:prstGeom prst="roundRect">
            <a:avLst>
              <a:gd name="adj" fmla="val 16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10" b="1" i="0">
                <a:solidFill>
                  <a:srgbClr val="152035"/>
                </a:solidFill>
                <a:latin typeface="Georgia"/>
              </a:rPr>
              <a:t>AMCL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009255" y="1828800"/>
            <a:ext cx="1028700" cy="342900"/>
          </a:xfrm>
          <a:prstGeom prst="roundRect">
            <a:avLst>
              <a:gd name="adj" fmla="val 16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10" b="1" i="0">
                <a:solidFill>
                  <a:srgbClr val="152035"/>
                </a:solidFill>
                <a:latin typeface="Georgia"/>
              </a:rPr>
              <a:t>Map Server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6255" y="2457450"/>
            <a:ext cx="1028700" cy="342900"/>
          </a:xfrm>
          <a:prstGeom prst="roundRect">
            <a:avLst>
              <a:gd name="adj" fmla="val 16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1" i="0">
                <a:solidFill>
                  <a:srgbClr val="152035"/>
                </a:solidFill>
                <a:latin typeface="Georgia"/>
              </a:rPr>
              <a:t>Planner +</a:t>
            </a:r>
          </a:p>
          <a:p>
            <a:pPr algn="ctr"/>
            <a:r>
              <a:rPr sz="720" b="1" i="0">
                <a:solidFill>
                  <a:srgbClr val="152035"/>
                </a:solidFill>
                <a:latin typeface="Georgia"/>
              </a:rPr>
              <a:t>Controller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009255" y="2457450"/>
            <a:ext cx="1028700" cy="342900"/>
          </a:xfrm>
          <a:prstGeom prst="roundRect">
            <a:avLst>
              <a:gd name="adj" fmla="val 16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65" b="1" i="0">
                <a:solidFill>
                  <a:srgbClr val="152035"/>
                </a:solidFill>
                <a:latin typeface="Georgia"/>
              </a:rPr>
              <a:t>BT Navigator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6255" y="3714750"/>
            <a:ext cx="914400" cy="308610"/>
          </a:xfrm>
          <a:prstGeom prst="roundRect">
            <a:avLst>
              <a:gd name="adj" fmla="val 50000"/>
            </a:avLst>
          </a:prstGeom>
          <a:solidFill>
            <a:srgbClr val="F7F2E7"/>
          </a:solidFill>
          <a:ln w="8572">
            <a:solidFill>
              <a:srgbClr val="152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65" b="1" i="0">
                <a:solidFill>
                  <a:srgbClr val="152035"/>
                </a:solidFill>
                <a:latin typeface="Georgia"/>
              </a:rPr>
              <a:t>Serial Node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1955" y="4343400"/>
            <a:ext cx="1143000" cy="308610"/>
          </a:xfrm>
          <a:prstGeom prst="roundRect">
            <a:avLst>
              <a:gd name="adj" fmla="val 22000"/>
            </a:avLst>
          </a:prstGeom>
          <a:solidFill>
            <a:srgbClr val="1520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20" b="1" i="0">
                <a:solidFill>
                  <a:srgbClr val="F7F2E7"/>
                </a:solidFill>
                <a:latin typeface="Georgia"/>
              </a:rPr>
              <a:t>Arduino + Motors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7675" y="1674495"/>
            <a:ext cx="857250" cy="308610"/>
          </a:xfrm>
          <a:prstGeom prst="roundRect">
            <a:avLst>
              <a:gd name="adj" fmla="val 50000"/>
            </a:avLst>
          </a:prstGeom>
          <a:solidFill>
            <a:srgbClr val="F7F2E7"/>
          </a:solidFill>
          <a:ln w="8572">
            <a:solidFill>
              <a:srgbClr val="152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65" b="1" i="0">
                <a:solidFill>
                  <a:srgbClr val="152035"/>
                </a:solidFill>
                <a:latin typeface="Georgia"/>
              </a:rPr>
              <a:t>Age Node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43575" y="1674495"/>
            <a:ext cx="857250" cy="308610"/>
          </a:xfrm>
          <a:prstGeom prst="roundRect">
            <a:avLst>
              <a:gd name="adj" fmla="val 50000"/>
            </a:avLst>
          </a:prstGeom>
          <a:solidFill>
            <a:srgbClr val="F7F2E7"/>
          </a:solidFill>
          <a:ln w="8572">
            <a:solidFill>
              <a:srgbClr val="1520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65" b="1" i="0">
                <a:solidFill>
                  <a:srgbClr val="152035"/>
                </a:solidFill>
                <a:latin typeface="Georgia"/>
              </a:rPr>
              <a:t>Mood Node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771900" y="2400300"/>
            <a:ext cx="4572000" cy="2286000"/>
          </a:xfrm>
          <a:prstGeom prst="roundRect">
            <a:avLst>
              <a:gd name="adj" fmla="val 4500"/>
            </a:avLst>
          </a:prstGeom>
          <a:solidFill>
            <a:srgbClr val="EDE4D0"/>
          </a:solidFill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97630" y="2457450"/>
            <a:ext cx="1828800" cy="171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990" b="1" i="0">
                <a:solidFill>
                  <a:srgbClr val="A8862E"/>
                </a:solidFill>
                <a:latin typeface="Georgia"/>
              </a:rPr>
              <a:t>Docent Stack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914775" y="2743200"/>
            <a:ext cx="1600200" cy="445770"/>
          </a:xfrm>
          <a:prstGeom prst="roundRect">
            <a:avLst>
              <a:gd name="adj" fmla="val 13000"/>
            </a:avLst>
          </a:prstGeom>
          <a:solidFill>
            <a:srgbClr val="152035"/>
          </a:solidFill>
          <a:ln w="11430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5" b="1" i="0">
                <a:solidFill>
                  <a:srgbClr val="F7F2E7"/>
                </a:solidFill>
                <a:latin typeface="Georgia"/>
              </a:rPr>
              <a:t>Web App + LLM</a:t>
            </a:r>
          </a:p>
          <a:p>
            <a:pPr algn="ctr"/>
            <a:r>
              <a:rPr sz="585" b="0" i="0">
                <a:solidFill>
                  <a:srgbClr val="C9A84C"/>
                </a:solidFill>
                <a:latin typeface="Calibri"/>
              </a:rPr>
              <a:t>FastAPI · React · Gemini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86550" y="2743200"/>
            <a:ext cx="1485900" cy="445770"/>
          </a:xfrm>
          <a:prstGeom prst="roundRect">
            <a:avLst>
              <a:gd name="adj" fmla="val 13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10" b="1" i="0">
                <a:solidFill>
                  <a:srgbClr val="152035"/>
                </a:solidFill>
                <a:latin typeface="Georgia"/>
              </a:rPr>
              <a:t>Tour Coordinator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14775" y="3714750"/>
            <a:ext cx="1714500" cy="514350"/>
          </a:xfrm>
          <a:prstGeom prst="roundRect">
            <a:avLst>
              <a:gd name="adj" fmla="val 11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10" b="1" i="0">
                <a:solidFill>
                  <a:srgbClr val="152035"/>
                </a:solidFill>
                <a:latin typeface="Georgia"/>
              </a:rPr>
              <a:t>Prompt Builder</a:t>
            </a:r>
          </a:p>
          <a:p>
            <a:pPr algn="ctr"/>
            <a:r>
              <a:rPr sz="630" b="0" i="1">
                <a:solidFill>
                  <a:srgbClr val="A8862E"/>
                </a:solidFill>
                <a:latin typeface="Calibri"/>
              </a:rPr>
              <a:t>"age + mood + exhibit"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86550" y="3714750"/>
            <a:ext cx="1485900" cy="514350"/>
          </a:xfrm>
          <a:prstGeom prst="roundRect">
            <a:avLst>
              <a:gd name="adj" fmla="val 11000"/>
            </a:avLst>
          </a:prstGeom>
          <a:solidFill>
            <a:srgbClr val="F7F2E7"/>
          </a:solidFill>
          <a:ln w="5715">
            <a:solidFill>
              <a:srgbClr val="C9A8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65" b="1" i="0">
                <a:solidFill>
                  <a:srgbClr val="152035"/>
                </a:solidFill>
                <a:latin typeface="Georgia"/>
              </a:rPr>
              <a:t>Database /</a:t>
            </a:r>
          </a:p>
          <a:p>
            <a:pPr algn="ctr"/>
            <a:r>
              <a:rPr sz="765" b="1" i="0">
                <a:solidFill>
                  <a:srgbClr val="152035"/>
                </a:solidFill>
                <a:latin typeface="Georgia"/>
              </a:rPr>
              <a:t>Exhibit Loader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514975" y="2966085"/>
            <a:ext cx="1171575" cy="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5640705" y="3971925"/>
            <a:ext cx="1045845" cy="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4772025" y="3200400"/>
            <a:ext cx="0" cy="51435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323455" y="1062990"/>
            <a:ext cx="0" cy="42291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403465" y="1183005"/>
            <a:ext cx="34290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/scan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323455" y="3314700"/>
            <a:ext cx="0" cy="40005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403465" y="3446145"/>
            <a:ext cx="49149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/cmd_vel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323455" y="4023360"/>
            <a:ext cx="0" cy="320040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03465" y="4114800"/>
            <a:ext cx="320040" cy="12573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30" b="0" i="1">
                <a:solidFill>
                  <a:srgbClr val="6B6759"/>
                </a:solidFill>
                <a:latin typeface="Georgia"/>
              </a:rPr>
              <a:t>serial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29250" y="1274445"/>
            <a:ext cx="0" cy="222885"/>
          </a:xfrm>
          <a:prstGeom prst="line">
            <a:avLst/>
          </a:prstGeom>
          <a:ln w="14288">
            <a:solidFill>
              <a:srgbClr val="1520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686300" y="1497330"/>
            <a:ext cx="1485900" cy="0"/>
          </a:xfrm>
          <a:prstGeom prst="line">
            <a:avLst/>
          </a:prstGeom>
          <a:ln w="14288">
            <a:solidFill>
              <a:srgbClr val="15203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686300" y="1497330"/>
            <a:ext cx="0" cy="177165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6172200" y="1497330"/>
            <a:ext cx="0" cy="177165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177790" y="1325880"/>
            <a:ext cx="53721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/image_raw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686300" y="1983105"/>
            <a:ext cx="0" cy="417195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766310" y="2125980"/>
            <a:ext cx="28575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/age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172200" y="1983105"/>
            <a:ext cx="0" cy="417195"/>
          </a:xfrm>
          <a:prstGeom prst="line">
            <a:avLst/>
          </a:prstGeom>
          <a:ln w="14288">
            <a:solidFill>
              <a:srgbClr val="1520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52210" y="2125980"/>
            <a:ext cx="36576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0" i="1">
                <a:solidFill>
                  <a:srgbClr val="A8862E"/>
                </a:solidFill>
                <a:latin typeface="Georgia"/>
              </a:rPr>
              <a:t>/mood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3143250" y="2674620"/>
            <a:ext cx="628650" cy="0"/>
          </a:xfrm>
          <a:prstGeom prst="line">
            <a:avLst/>
          </a:prstGeom>
          <a:ln w="17145">
            <a:solidFill>
              <a:srgbClr val="C9A84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3177540" y="2497455"/>
            <a:ext cx="58293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 i="1">
                <a:solidFill>
                  <a:srgbClr val="A8862E"/>
                </a:solidFill>
                <a:latin typeface="Georgia"/>
              </a:rPr>
              <a:t>/amcl_pose</a:t>
            </a:r>
          </a:p>
        </p:txBody>
      </p:sp>
      <p:cxnSp>
        <p:nvCxnSpPr>
          <p:cNvPr id="50" name="Connector 49"/>
          <p:cNvCxnSpPr/>
          <p:nvPr/>
        </p:nvCxnSpPr>
        <p:spPr>
          <a:xfrm flipH="1">
            <a:off x="3143250" y="3188970"/>
            <a:ext cx="628650" cy="0"/>
          </a:xfrm>
          <a:prstGeom prst="line">
            <a:avLst/>
          </a:prstGeom>
          <a:ln w="17145">
            <a:solidFill>
              <a:srgbClr val="C9A84C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177540" y="3234690"/>
            <a:ext cx="560070" cy="137160"/>
          </a:xfrm>
          <a:prstGeom prst="rect">
            <a:avLst/>
          </a:prstGeom>
          <a:solidFill>
            <a:srgbClr val="F6F1E6"/>
          </a:solidFill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20" b="1" i="1">
                <a:solidFill>
                  <a:srgbClr val="A8862E"/>
                </a:solidFill>
                <a:latin typeface="Georgia"/>
              </a:rPr>
              <a:t>/goal_pose</a:t>
            </a:r>
          </a:p>
        </p:txBody>
      </p:sp>
      <p:sp>
        <p:nvSpPr>
          <p:cNvPr id="54" name="Shape 1"/>
          <p:cNvSpPr/>
          <p:nvPr/>
        </p:nvSpPr>
        <p:spPr>
          <a:xfrm>
            <a:off x="342900" y="555567"/>
            <a:ext cx="339471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Shape 22"/>
          <p:cNvSpPr/>
          <p:nvPr/>
        </p:nvSpPr>
        <p:spPr>
          <a:xfrm>
            <a:off x="457200" y="4800600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2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 dirty="0"/>
          </a:p>
        </p:txBody>
      </p:sp>
      <p:sp>
        <p:nvSpPr>
          <p:cNvPr id="80" name="Text 2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r>
              <a:rPr lang="en-US" sz="900" dirty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</a:t>
            </a: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I — What We Built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409572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modules, all ready to integrate in Project II.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67512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Full-Stack Web App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667512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Abdallah Eldairouty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667512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</a:t>
            </a:r>
            <a:r>
              <a:rPr lang="en-US" sz="1000" err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PostgreSQL. The integration layer that ties together the LLM chat, vision models (mood + age), navigation, and simulation map — one </a:t>
            </a:r>
            <a:r>
              <a:rPr lang="en-US" sz="1000" err="1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demoable</a:t>
            </a: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system.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273552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273552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38144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AI &amp; Voice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3438144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3438144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pipeline (Gemini) + Whisper STT + edge-tts TTS. Multilingual in three languages, exhibit-aware prompts.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6044184" y="1417320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6044184" y="1417320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208776" y="1527048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Recognition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6208776" y="1783080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Nayrouz Ahmed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6208776" y="1984248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facial emotion recognition using OpenCV and a deep-learning model. Streams predictions to the robot brain.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502920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02920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667512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667512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</a:t>
            </a:r>
            <a:endParaRPr lang="en-US" sz="900"/>
          </a:p>
        </p:txBody>
      </p:sp>
      <p:sp>
        <p:nvSpPr>
          <p:cNvPr id="24" name="Text 22"/>
          <p:cNvSpPr/>
          <p:nvPr/>
        </p:nvSpPr>
        <p:spPr>
          <a:xfrm>
            <a:off x="667512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age estimation from a single camera frame. Used to tune the robot's tone for kids vs. adults.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3273552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73552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438144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</a:t>
            </a:r>
            <a:endParaRPr lang="en-US" sz="1200"/>
          </a:p>
        </p:txBody>
      </p:sp>
      <p:sp>
        <p:nvSpPr>
          <p:cNvPr id="28" name="Text 26"/>
          <p:cNvSpPr/>
          <p:nvPr/>
        </p:nvSpPr>
        <p:spPr>
          <a:xfrm>
            <a:off x="3438144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&amp; Youssef Waleed &amp; </a:t>
            </a:r>
            <a:r>
              <a:rPr lang="en-US" sz="9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Amr 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3438144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Gazebo museum environment and ROS 2 navigation stack — used to validate routes before hardware.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6044184" y="2907792"/>
            <a:ext cx="2606040" cy="132588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6044184" y="2907792"/>
            <a:ext cx="260604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6208776" y="3017520"/>
            <a:ext cx="2386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Prototype</a:t>
            </a:r>
            <a:endParaRPr lang="en-US" sz="1200"/>
          </a:p>
        </p:txBody>
      </p:sp>
      <p:sp>
        <p:nvSpPr>
          <p:cNvPr id="33" name="Text 31"/>
          <p:cNvSpPr/>
          <p:nvPr/>
        </p:nvSpPr>
        <p:spPr>
          <a:xfrm>
            <a:off x="6208776" y="327355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9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Amr &amp; Leena Gouda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6208776" y="3474720"/>
            <a:ext cx="238658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00" i="1"/>
              <a:t>Working campus delivery robot — proves the base, motors, and control loop in real corridors.</a:t>
            </a:r>
            <a:endParaRPr lang="en-US" sz="1000"/>
          </a:p>
        </p:txBody>
      </p:sp>
      <p:sp>
        <p:nvSpPr>
          <p:cNvPr id="35" name="Shape 3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Touchscreen Web Application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4727251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Mohamed Abdallah Eldairouty  -  Full-Stack Web Application</a:t>
            </a:r>
            <a:endParaRPr lang="en-US" sz="1100"/>
          </a:p>
        </p:txBody>
      </p:sp>
      <p:pic>
        <p:nvPicPr>
          <p:cNvPr id="5" name="Image 0" descr="D:/Prog/Thoth/assets/screenshots/THOTH_HomePage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2920" y="1371600"/>
            <a:ext cx="4251960" cy="3108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371600"/>
            <a:ext cx="4251960" cy="3108960"/>
          </a:xfrm>
          <a:prstGeom prst="rect">
            <a:avLst/>
          </a:prstGeom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502920" y="449884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home page — running locally against the real backend.</a:t>
            </a:r>
            <a:endParaRPr lang="en-US" sz="850"/>
          </a:p>
        </p:txBody>
      </p:sp>
      <p:sp>
        <p:nvSpPr>
          <p:cNvPr id="8" name="Text 5"/>
          <p:cNvSpPr/>
          <p:nvPr/>
        </p:nvSpPr>
        <p:spPr>
          <a:xfrm>
            <a:off x="4937760" y="137160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visitor's window into the museum.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5029200" y="17830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architecture, not a mock-up.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runs on a kiosk, a phone, or the robot.</a:t>
            </a:r>
            <a:endParaRPr lang="en-US" sz="1200">
              <a:solidFill>
                <a:srgbClr val="ECE4D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content resolved server-side — frontend stays simple.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AI calls go through the backend — easy to swap providers.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 the LLM chat to the vision models — THOTH adapts how it speaks to who's in front of it (mood + age).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 the same ROS 2 navigation and simulation we built. </a:t>
            </a:r>
            <a:endParaRPr lang="en-US" sz="1200"/>
          </a:p>
        </p:txBody>
      </p:sp>
      <p:sp>
        <p:nvSpPr>
          <p:cNvPr id="10" name="Shape 7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12" name="Text 9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 — Architecture &amp; Pages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5108799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13232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98D43"/>
                </a:solidFill>
                <a:latin typeface="Georgia"/>
                <a:ea typeface="Georgia" pitchFamily="34" charset="-122"/>
                <a:cs typeface="Georgia" pitchFamily="34" charset="-120"/>
              </a:rPr>
              <a:t>Frontend</a:t>
            </a:r>
            <a:endParaRPr lang="en-US" sz="1100">
              <a:solidFill>
                <a:srgbClr val="A98D43"/>
              </a:solidFill>
              <a:latin typeface="Georgia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57400" y="1417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 ·  Vite  ·  TypeScript  ·  Tailwind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548640" y="196596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13232" y="19659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Layer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205740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Pydantic</a:t>
            </a:r>
            <a:endParaRPr lang="en-US" sz="1000"/>
          </a:p>
        </p:txBody>
      </p:sp>
      <p:sp>
        <p:nvSpPr>
          <p:cNvPr id="14" name="Shape 12"/>
          <p:cNvSpPr/>
          <p:nvPr/>
        </p:nvSpPr>
        <p:spPr>
          <a:xfrm>
            <a:off x="822960" y="242316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548640" y="251460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13232" y="251460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Layer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205740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 ·  AI orchestration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822960" y="297180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13232" y="306324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2057400" y="3063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 ·  Alembic  ·  PostgreSQL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822960" y="3520440"/>
            <a:ext cx="0" cy="91440"/>
          </a:xfrm>
          <a:prstGeom prst="line">
            <a:avLst/>
          </a:prstGeom>
          <a:noFill/>
          <a:ln w="635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548640" y="3611880"/>
            <a:ext cx="4023360" cy="4572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48640" y="3611880"/>
            <a:ext cx="73152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13232" y="361188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Services</a:t>
            </a:r>
            <a:endParaRPr lang="en-US" sz="1100"/>
          </a:p>
        </p:txBody>
      </p:sp>
      <p:sp>
        <p:nvSpPr>
          <p:cNvPr id="28" name="Text 26"/>
          <p:cNvSpPr/>
          <p:nvPr/>
        </p:nvSpPr>
        <p:spPr>
          <a:xfrm>
            <a:off x="2057400" y="36118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 ·  Whisper  ·  edge-tts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8006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1100"/>
          </a:p>
        </p:txBody>
      </p:sp>
      <p:sp>
        <p:nvSpPr>
          <p:cNvPr id="30" name="Shape 28"/>
          <p:cNvSpPr/>
          <p:nvPr/>
        </p:nvSpPr>
        <p:spPr>
          <a:xfrm>
            <a:off x="4800600" y="14173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10328" y="1417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1100"/>
          </a:p>
        </p:txBody>
      </p:sp>
      <p:sp>
        <p:nvSpPr>
          <p:cNvPr id="32" name="Text 30"/>
          <p:cNvSpPr/>
          <p:nvPr/>
        </p:nvSpPr>
        <p:spPr>
          <a:xfrm>
            <a:off x="6217920" y="1417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Welcome, language switch, quick actions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4800600" y="18745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910328" y="18745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Exhibits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6217920" y="1874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filter by hall, era, category</a:t>
            </a:r>
            <a:endParaRPr lang="en-US" sz="950"/>
          </a:p>
        </p:txBody>
      </p:sp>
      <p:sp>
        <p:nvSpPr>
          <p:cNvPr id="36" name="Shape 34"/>
          <p:cNvSpPr/>
          <p:nvPr/>
        </p:nvSpPr>
        <p:spPr>
          <a:xfrm>
            <a:off x="4800600" y="23317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4910328" y="23317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Exhibit Detail</a:t>
            </a:r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217920" y="23317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Story, media, audio narration, chat link</a:t>
            </a:r>
            <a:endParaRPr lang="en-US" sz="950"/>
          </a:p>
        </p:txBody>
      </p:sp>
      <p:sp>
        <p:nvSpPr>
          <p:cNvPr id="39" name="Shape 37"/>
          <p:cNvSpPr/>
          <p:nvPr/>
        </p:nvSpPr>
        <p:spPr>
          <a:xfrm>
            <a:off x="4800600" y="27889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4910328" y="2788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Museum Map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6217920" y="2788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robot marker, route preview</a:t>
            </a:r>
            <a:endParaRPr lang="en-US" sz="950"/>
          </a:p>
        </p:txBody>
      </p:sp>
      <p:sp>
        <p:nvSpPr>
          <p:cNvPr id="42" name="Shape 40"/>
          <p:cNvSpPr/>
          <p:nvPr/>
        </p:nvSpPr>
        <p:spPr>
          <a:xfrm>
            <a:off x="4800600" y="32461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4910328" y="32461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THOTH</a:t>
            </a:r>
            <a:endParaRPr lang="en-US" sz="1100"/>
          </a:p>
        </p:txBody>
      </p:sp>
      <p:sp>
        <p:nvSpPr>
          <p:cNvPr id="44" name="Text 42"/>
          <p:cNvSpPr/>
          <p:nvPr/>
        </p:nvSpPr>
        <p:spPr>
          <a:xfrm>
            <a:off x="6217920" y="32461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voice chat, plays back TTS reply</a:t>
            </a:r>
            <a:endParaRPr lang="en-US" sz="950"/>
          </a:p>
        </p:txBody>
      </p:sp>
      <p:sp>
        <p:nvSpPr>
          <p:cNvPr id="45" name="Shape 43"/>
          <p:cNvSpPr/>
          <p:nvPr/>
        </p:nvSpPr>
        <p:spPr>
          <a:xfrm>
            <a:off x="4800600" y="3703320"/>
            <a:ext cx="3840480" cy="384048"/>
          </a:xfrm>
          <a:prstGeom prst="rect">
            <a:avLst/>
          </a:prstGeom>
          <a:solidFill>
            <a:srgbClr val="EDE4D0"/>
          </a:solidFill>
          <a:ln w="5080">
            <a:solidFill>
              <a:srgbClr val="8A6F2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910328" y="37033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Settings</a:t>
            </a:r>
            <a:endParaRPr lang="en-US" sz="1100"/>
          </a:p>
        </p:txBody>
      </p:sp>
      <p:sp>
        <p:nvSpPr>
          <p:cNvPr id="47" name="Text 45"/>
          <p:cNvSpPr/>
          <p:nvPr/>
        </p:nvSpPr>
        <p:spPr>
          <a:xfrm>
            <a:off x="6217920" y="3703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Language, font size, captions, audio</a:t>
            </a:r>
            <a:endParaRPr lang="en-US" sz="950"/>
          </a:p>
        </p:txBody>
      </p:sp>
      <p:sp>
        <p:nvSpPr>
          <p:cNvPr id="48" name="Shape 46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Speech Interaction Architecture</a:t>
            </a:r>
            <a:endParaRPr lang="en-US" b="1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spcAft>
                <a:spcPts val="600"/>
              </a:spcAft>
            </a:pPr>
            <a:r>
              <a:rPr lang="en-US" sz="1600" b="1">
                <a:solidFill>
                  <a:srgbClr val="A98D43"/>
                </a:solidFill>
                <a:ea typeface="+mn-lt"/>
                <a:cs typeface="+mn-lt"/>
              </a:rPr>
              <a:t>Every visitor interaction follows a fixed 3-stage pipeline: </a:t>
            </a:r>
          </a:p>
          <a:p>
            <a:pPr>
              <a:spcAft>
                <a:spcPts val="600"/>
              </a:spcAft>
            </a:pPr>
            <a:r>
              <a:rPr lang="en-US" sz="1300" i="1">
                <a:ea typeface="+mn-lt"/>
                <a:cs typeface="+mn-lt"/>
              </a:rPr>
              <a:t> Visitor Speaks → [STT] → [LLM] → [TTS] → Robot Speaks Back</a:t>
            </a:r>
            <a:endParaRPr lang="en-US" sz="1300" i="1"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600"/>
              </a:spcAft>
            </a:pPr>
            <a:r>
              <a:rPr lang="en-US" sz="1300">
                <a:ea typeface="+mn-lt"/>
                <a:cs typeface="+mn-lt"/>
              </a:rPr>
              <a:t> Each stage feeds directly into the next — errors at any stage propagate forward</a:t>
            </a:r>
          </a:p>
          <a:p>
            <a:pPr>
              <a:spcAft>
                <a:spcPts val="600"/>
              </a:spcAft>
            </a:pPr>
            <a:r>
              <a:rPr lang="en-US" sz="1300">
                <a:ea typeface="+mn-lt"/>
                <a:cs typeface="+mn-lt"/>
              </a:rPr>
              <a:t> All three components share one critical requirement: </a:t>
            </a:r>
            <a:r>
              <a:rPr lang="en-US" sz="1300" b="1">
                <a:ea typeface="+mn-lt"/>
                <a:cs typeface="+mn-lt"/>
              </a:rPr>
              <a:t>strong Egyptian Arabic + English support</a:t>
            </a:r>
            <a:endParaRPr lang="en-US"/>
          </a:p>
          <a:p>
            <a:pPr>
              <a:spcAft>
                <a:spcPts val="600"/>
              </a:spcAft>
            </a:pPr>
            <a:endParaRPr lang="en-US" sz="1300" b="1">
              <a:ea typeface="+mn-lt"/>
              <a:cs typeface="+mn-lt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STT (Speech-to-Text):</a:t>
            </a:r>
            <a:r>
              <a:rPr lang="en-US" sz="1300">
                <a:ea typeface="+mn-lt"/>
                <a:cs typeface="+mn-lt"/>
              </a:rPr>
              <a:t> Converts the visitor's voice to text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spcAft>
                <a:spcPts val="600"/>
              </a:spcAft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LLM (Large Language Model):</a:t>
            </a:r>
            <a:r>
              <a:rPr lang="en-US" sz="1300">
                <a:ea typeface="+mn-lt"/>
                <a:cs typeface="+mn-lt"/>
              </a:rPr>
              <a:t> Understands the question and generates a response as a museum guide</a:t>
            </a:r>
          </a:p>
          <a:p>
            <a:pPr marL="285750" indent="-285750">
              <a:buFont typeface="Arial"/>
              <a:buChar char="•"/>
            </a:pPr>
            <a:r>
              <a:rPr lang="en-US" sz="1300" b="1">
                <a:ea typeface="+mn-lt"/>
                <a:cs typeface="+mn-lt"/>
              </a:rPr>
              <a:t>TTS (Text-to-Speech):</a:t>
            </a:r>
            <a:r>
              <a:rPr lang="en-US" sz="1300">
                <a:ea typeface="+mn-lt"/>
                <a:cs typeface="+mn-lt"/>
              </a:rPr>
              <a:t> Converts the response to natural spoken audio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13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600"/>
              </a:spcAft>
            </a:pPr>
            <a:endParaRPr lang="en-US" sz="1300">
              <a:ea typeface="Calibri"/>
              <a:cs typeface="Calibri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00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04812546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84CEB04D-35F3-ADAF-1B9A-EE75DD46A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733BC3BA-9ABC-5F7F-F3C3-82A027470AC6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Speech To Text (STT)</a:t>
            </a:r>
            <a:endParaRPr lang="en-US" sz="2400" b="1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xmlns="" id="{E9AD8B66-907A-7C02-E80D-3D73826CEA8E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1F8CD719-10C9-7198-AF2E-D95B7238DFEB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xmlns="" id="{26026926-4AA7-523D-84A6-89A3BE81EB90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OpenAI Whisper Large V3 </a:t>
            </a:r>
            <a:endParaRPr lang="en-US" b="1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600">
                <a:solidFill>
                  <a:srgbClr val="A98D43"/>
                </a:solidFill>
                <a:ea typeface="+mn-lt"/>
                <a:cs typeface="+mn-lt"/>
              </a:rPr>
              <a:t> Why we chose it:</a:t>
            </a:r>
            <a:endParaRPr lang="en-US">
              <a:solidFill>
                <a:srgbClr val="A98D43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Free and open-source — no API costs, runs fully locally on-device</a:t>
            </a:r>
            <a:endParaRPr lang="en-US" sz="1600">
              <a:solidFill>
                <a:srgbClr val="152035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Supports 99+ languages including Egyptian colloquial Arabic dialect, not just Modern Standard Arabic</a:t>
            </a:r>
            <a:endParaRPr lang="en-US" sz="1600">
              <a:solidFill>
                <a:srgbClr val="152035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Automatically detects Arabic vs. English with no manual switching needed</a:t>
            </a:r>
            <a:endParaRPr lang="en-US" sz="1600">
              <a:solidFill>
                <a:srgbClr val="152035"/>
              </a:solidFill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Designed for noisy environments — critical for a busy museum with ambient sound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Runs offline — no internet dependency for this stage of the pipeline</a:t>
            </a:r>
          </a:p>
          <a:p>
            <a:pPr marL="742950" lvl="1" indent="-285750">
              <a:buFont typeface="Courier New"/>
              <a:buChar char="o"/>
            </a:pPr>
            <a:endParaRPr lang="en-US" sz="1600">
              <a:solidFill>
                <a:srgbClr val="152035"/>
              </a:solidFill>
              <a:ea typeface="+mn-lt"/>
              <a:cs typeface="+mn-lt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xmlns="" id="{872A3309-3968-26D1-358F-EA50B1BF6C34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xmlns="" id="{4922D641-7D62-08DD-A647-81DC5C524208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3C6D3012-9839-A9E2-32B3-A310E7D34FAA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00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7050873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BB6C026B-AF84-C2BC-4A55-23EBC1D1E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A670BDAE-DBA8-260D-B422-50C7DF64C0D5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Speech To Text (STT)</a:t>
            </a:r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xmlns="" id="{905AB203-CAB7-AB47-147B-1685AEA31892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6B21D989-9416-E81D-A3EE-8514E36E01BE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xmlns="" id="{95892D4E-4E34-3E7B-50D5-4DE21FE84578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Alternatives we evaluated and rejected:</a:t>
            </a:r>
            <a:endParaRPr lang="en-US"/>
          </a:p>
          <a:p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xmlns="" id="{1CC42378-5999-2A2A-9132-E78EDFF3F865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xmlns="" id="{B9DA0C13-4B58-E17C-B139-6E6387D0EFF4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FF2EC2DA-9B1A-B5F0-2D88-F3A169BBDDD2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00</a:t>
            </a:r>
            <a:endParaRPr lang="en-US" sz="9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xmlns="" id="{02411A96-1A49-C932-6CD4-B8342852C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33620"/>
              </p:ext>
            </p:extLst>
          </p:nvPr>
        </p:nvGraphicFramePr>
        <p:xfrm>
          <a:off x="656470" y="1832682"/>
          <a:ext cx="8002069" cy="2682240"/>
        </p:xfrm>
        <a:graphic>
          <a:graphicData uri="http://schemas.openxmlformats.org/drawingml/2006/table">
            <a:tbl>
              <a:tblPr/>
              <a:tblGrid>
                <a:gridCol w="31436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583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5434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Alternative</a:t>
                      </a:r>
                      <a:endParaRPr lang="en-US" b="0" i="0" u="none" strike="noStrike" noProof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Why Rejected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</a:rPr>
                        <a:t>Deepgram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 Nova-3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Paid API, weak Arabic dialect documentation, no offline mode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3222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Google Chirp 2</a:t>
                      </a:r>
                      <a:endParaRPr lang="en-US" sz="11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Most expensive option ($16/1000 min), worst accuracy-to-cost ratio, cloud-only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</a:rPr>
                        <a:t>AssemblyAI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 Universal-2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Paid, Egyptian colloquial Arabic performance undocumented in literature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Azure Speech (cloud)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Paid, cloud-dependent, same concerns as Chirp 2</a:t>
                      </a:r>
                      <a:endParaRPr lang="en-US" sz="115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Facebook MMS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Not optimized for real-time interactive applications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41013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Amazon Transcribe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No free tier for Arabic, limited dialect support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>
                      <a:solidFill>
                        <a:srgbClr val="F7F2E7"/>
                      </a:solidFill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4495240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10553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98A8109C-BE4E-37AE-D40A-F561E3D1E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38612041-C71C-73BD-FD9E-A6E2845DBD64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Large Language Model (LLM)</a:t>
            </a:r>
            <a:endParaRPr lang="en-US" b="1"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xmlns="" id="{D84322C4-2C78-75EC-D545-0F6046CEF039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9C163141-2C7A-49B2-4B17-793AC1750DBB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xmlns="" id="{533DCDA9-0AA5-7776-CC32-58C8A82ABD8C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Google Gemini 2.5 Flash</a:t>
            </a:r>
            <a:endParaRPr lang="en-US" b="1">
              <a:ea typeface="Calibri"/>
              <a:cs typeface="Calibri"/>
            </a:endParaRPr>
          </a:p>
          <a:p>
            <a:r>
              <a:rPr lang="en-US" sz="1600">
                <a:solidFill>
                  <a:srgbClr val="A98D43"/>
                </a:solidFill>
                <a:ea typeface="+mn-lt"/>
                <a:cs typeface="+mn-lt"/>
              </a:rPr>
              <a:t> Why we chose it:</a:t>
            </a:r>
            <a:endParaRPr lang="en-US">
              <a:solidFill>
                <a:srgbClr val="A98D43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Arabic and English are both Tier-1 supported languages — not an afterthought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Understands mid-sentence code-switching (visitor mixes Arabic and English naturally)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Optimized for speed — responds in 1–2 seconds, essential for real-time conversation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Generous free tier: 1,500 requests/day — zero cost for development and dem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Behavior fully controllable through a </a:t>
            </a:r>
            <a:r>
              <a:rPr lang="en-US" sz="1600" b="1">
                <a:solidFill>
                  <a:srgbClr val="152035"/>
                </a:solidFill>
                <a:ea typeface="+mn-lt"/>
                <a:cs typeface="+mn-lt"/>
              </a:rPr>
              <a:t>system prompt</a:t>
            </a: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 that defines the robot's identity, language rules, answer length, and topic constraints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742950" lvl="1" indent="-285750">
              <a:buFont typeface="Courier New"/>
              <a:buChar char="o"/>
            </a:pPr>
            <a:endParaRPr lang="en-US" sz="1600">
              <a:solidFill>
                <a:srgbClr val="152035"/>
              </a:solidFill>
              <a:ea typeface="Calibri"/>
              <a:cs typeface="Calibri"/>
            </a:endParaRPr>
          </a:p>
          <a:p>
            <a:r>
              <a:rPr lang="en-US" sz="1600">
                <a:solidFill>
                  <a:srgbClr val="A98D43"/>
                </a:solidFill>
                <a:ea typeface="Calibri"/>
                <a:cs typeface="Calibri"/>
              </a:rPr>
              <a:t>System prompt is: </a:t>
            </a: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A fixed instruction block that wraps every visitor question — invisible to the visitor. It transforms a general AI into </a:t>
            </a:r>
            <a:r>
              <a:rPr lang="en-US" sz="1600" b="1">
                <a:solidFill>
                  <a:srgbClr val="152035"/>
                </a:solidFill>
                <a:ea typeface="+mn-lt"/>
                <a:cs typeface="+mn-lt"/>
              </a:rPr>
              <a:t>THOTH</a:t>
            </a: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, a named museum guide that speaks the visitor's language, stays on topic, and keeps answers concise. This is how real-world AI applications are built — not by training new models, but by carefully instructing existing ones.</a:t>
            </a:r>
            <a:endParaRPr lang="en-US" sz="1600">
              <a:solidFill>
                <a:srgbClr val="152035"/>
              </a:solidFill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xmlns="" id="{B3F7790E-CE85-130E-716D-7E5082672ECB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xmlns="" id="{62E96EB1-8E8D-41AF-A271-AA80E362D8C8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31B3DF76-BC2F-B4A7-2984-9D276149F844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00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5861714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63CA7061-10A9-A076-00C9-5387E9B6F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97C0A41A-4999-61AA-DA69-CA8E1D78D5F4}"/>
              </a:ext>
            </a:extLst>
          </p:cNvPr>
          <p:cNvSpPr/>
          <p:nvPr/>
        </p:nvSpPr>
        <p:spPr>
          <a:xfrm>
            <a:off x="584925" y="592908"/>
            <a:ext cx="8010435" cy="33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Large Language Model (LLM)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400" b="1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xmlns="" id="{6E2B3FD8-A081-BCAC-C6B1-496F6541351D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43A2682D-E44E-0A2E-532A-7043FFF5FB5F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xmlns="" id="{3C54CD91-D427-9FC5-04C4-C47615C0C67F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Alternatives we evaluated and rejected:</a:t>
            </a:r>
            <a:endParaRPr lang="en-US"/>
          </a:p>
          <a:p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endParaRPr lang="en-US" sz="1600" b="1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xmlns="" id="{AB15A7BC-B869-2AD8-CB4F-7A8F42DA268D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xmlns="" id="{CA094B96-3AB7-8A28-2958-52EFC58566FD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D5A93A1A-68B2-3EC3-32DC-7DDD2F50428D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00</a:t>
            </a:r>
            <a:endParaRPr lang="en-US" sz="9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xmlns="" id="{BC0718CF-F7BD-99FD-1064-ED665803C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9805944"/>
              </p:ext>
            </p:extLst>
          </p:nvPr>
        </p:nvGraphicFramePr>
        <p:xfrm>
          <a:off x="656470" y="1832682"/>
          <a:ext cx="8002069" cy="2369181"/>
        </p:xfrm>
        <a:graphic>
          <a:graphicData uri="http://schemas.openxmlformats.org/drawingml/2006/table">
            <a:tbl>
              <a:tblPr/>
              <a:tblGrid>
                <a:gridCol w="314367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5839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54346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Alternative</a:t>
                      </a:r>
                      <a:endParaRPr lang="en-US" b="0" i="0" u="none" strike="noStrike" noProof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Why Rejected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GPT-4o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Paid API after free tier, higher cost per token, no advantage in Arabic over Gemini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03221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Claude (Anthropic)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No substantial free tier for development, Arabic support less documented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Llama 3.1 8B (local)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Requires GPU to run at acceptable speed — not feasible on current hardware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Qwen3-235B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Far too large for any local deployment, impractical for this project stage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54346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Jais 70B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Arabic-specialized but 70B parameters — impossible to run locally</a:t>
                      </a:r>
                      <a:endParaRPr lang="en-US"/>
                    </a:p>
                  </a:txBody>
                  <a:tcPr marT="91440" marB="91440" anchor="ctr">
                    <a:lnL w="6350">
                      <a:solidFill>
                        <a:srgbClr val="F7F2E7"/>
                      </a:solidFill>
                    </a:lnL>
                    <a:lnR w="6350">
                      <a:solidFill>
                        <a:srgbClr val="F7F2E7"/>
                      </a:solidFill>
                    </a:lnR>
                    <a:lnT w="6350">
                      <a:solidFill>
                        <a:srgbClr val="F7F2E7"/>
                      </a:solidFill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4101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14266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02677495-7C60-115C-D77D-D29526504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EF86A63E-69F6-1495-B767-A02B9520D7D5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Calibri"/>
                <a:cs typeface="Calibri"/>
              </a:rPr>
              <a:t>Text To Speech (TTS)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xmlns="" id="{A3CCB398-60BE-4E15-CDEF-F873BDF74EDB}"/>
              </a:ext>
            </a:extLst>
          </p:cNvPr>
          <p:cNvSpPr/>
          <p:nvPr/>
        </p:nvSpPr>
        <p:spPr>
          <a:xfrm>
            <a:off x="548639" y="941832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84B8B7C2-F227-9EDA-4A2B-624503CE7843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xmlns="" id="{AEB7DDCE-E4A6-367E-2071-6870AD04814F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Microsoft Edge-TTS</a:t>
            </a:r>
            <a:endParaRPr lang="en-US"/>
          </a:p>
          <a:p>
            <a:r>
              <a:rPr lang="en-US" sz="1600">
                <a:solidFill>
                  <a:srgbClr val="A98D43"/>
                </a:solidFill>
                <a:ea typeface="+mn-lt"/>
                <a:cs typeface="+mn-lt"/>
              </a:rPr>
              <a:t> Why we chose it:</a:t>
            </a:r>
            <a:endParaRPr lang="en-US">
              <a:solidFill>
                <a:srgbClr val="A98D43"/>
              </a:solidFill>
              <a:ea typeface="+mn-lt"/>
              <a:cs typeface="+mn-lt"/>
            </a:endParaRPr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Uses Microsoft's neural voice technology — natural-sounding, not robotic</a:t>
            </a:r>
            <a:endParaRPr lang="en-US"/>
          </a:p>
          <a:p>
            <a:pPr marL="742950" lvl="1" indent="-285750">
              <a:buFont typeface="Courier New"/>
              <a:buChar char="o"/>
            </a:pPr>
            <a:r>
              <a:rPr lang="en-US" sz="1600">
                <a:solidFill>
                  <a:srgbClr val="152035"/>
                </a:solidFill>
                <a:ea typeface="+mn-lt"/>
                <a:cs typeface="+mn-lt"/>
              </a:rPr>
              <a:t>Since Whisper already detected the visitor's language, Edge-TTS automatically picks the correct voice — no manual switching</a:t>
            </a:r>
            <a:endParaRPr lang="en-US"/>
          </a:p>
          <a:p>
            <a:pPr lvl="1"/>
            <a:endParaRPr lang="en-US" sz="1600">
              <a:solidFill>
                <a:srgbClr val="152035"/>
              </a:solidFill>
              <a:ea typeface="Calibri"/>
              <a:cs typeface="Calibri"/>
            </a:endParaRPr>
          </a:p>
          <a:p>
            <a:pPr>
              <a:spcAft>
                <a:spcPts val="600"/>
              </a:spcAft>
            </a:pPr>
            <a:endParaRPr lang="en-US" sz="130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xmlns="" id="{EED60B5F-D99E-0946-2EC8-632154FD2DDF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xmlns="" id="{9EDCCB00-7028-6663-1AC4-22A7CE4316AF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573FD9C7-78FA-6399-36F3-56CBB76C32D8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00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1995124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4AC87438-13E4-4DA8-E3CE-85AEFACE5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04D47E41-D2AD-79D3-3D1B-2B83B8E5D153}"/>
              </a:ext>
            </a:extLst>
          </p:cNvPr>
          <p:cNvSpPr/>
          <p:nvPr/>
        </p:nvSpPr>
        <p:spPr>
          <a:xfrm>
            <a:off x="684711" y="375194"/>
            <a:ext cx="8010435" cy="330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ea typeface="+mn-lt"/>
                <a:cs typeface="+mn-lt"/>
              </a:rPr>
              <a:t>Large Language Model (LLM)</a:t>
            </a:r>
            <a:endParaRPr lang="en-US" sz="240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sz="2400" b="1">
              <a:solidFill>
                <a:srgbClr val="152035"/>
              </a:solidFill>
              <a:ea typeface="Calibri"/>
              <a:cs typeface="Calibri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xmlns="" id="{6CD12FE9-F462-3D19-6771-8B21BB1DEEED}"/>
              </a:ext>
            </a:extLst>
          </p:cNvPr>
          <p:cNvSpPr/>
          <p:nvPr/>
        </p:nvSpPr>
        <p:spPr>
          <a:xfrm>
            <a:off x="693782" y="588046"/>
            <a:ext cx="379311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D16B8E5C-2E12-94BF-8D3C-B3FB8F68D6D4}"/>
              </a:ext>
            </a:extLst>
          </p:cNvPr>
          <p:cNvSpPr/>
          <p:nvPr/>
        </p:nvSpPr>
        <p:spPr>
          <a:xfrm>
            <a:off x="693783" y="63413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Leena Gouda  -  LLM · Speech-to-Text · Text-to-Speech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xmlns="" id="{212DF226-F7B5-FB82-0BE4-FFEEDBD5C4AC}"/>
              </a:ext>
            </a:extLst>
          </p:cNvPr>
          <p:cNvSpPr/>
          <p:nvPr/>
        </p:nvSpPr>
        <p:spPr>
          <a:xfrm>
            <a:off x="612863" y="927462"/>
            <a:ext cx="7918995" cy="40073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600" b="1">
                <a:solidFill>
                  <a:srgbClr val="000000"/>
                </a:solidFill>
                <a:ea typeface="+mn-lt"/>
                <a:cs typeface="+mn-lt"/>
              </a:rPr>
              <a:t>Alternatives we evaluated and rejected:</a:t>
            </a: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endParaRPr lang="en-US" sz="1600" b="1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All free</a:t>
            </a:r>
            <a:r>
              <a:rPr lang="en-US" sz="1600">
                <a:ea typeface="+mn-lt"/>
                <a:cs typeface="+mn-lt"/>
              </a:rPr>
              <a:t> — no API costs for development or demos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All support Egyptian Arabic specifically</a:t>
            </a:r>
            <a:r>
              <a:rPr lang="en-US" sz="1600">
                <a:ea typeface="+mn-lt"/>
                <a:cs typeface="+mn-lt"/>
              </a:rPr>
              <a:t> — not generic Arabic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600" b="1">
                <a:ea typeface="+mn-lt"/>
                <a:cs typeface="+mn-lt"/>
              </a:rPr>
              <a:t>All modular</a:t>
            </a:r>
            <a:r>
              <a:rPr lang="en-US" sz="1600">
                <a:ea typeface="+mn-lt"/>
                <a:cs typeface="+mn-lt"/>
              </a:rPr>
              <a:t> — any component can be swapped independently in Phase 2 (e.g., replace Gemini with a local LLM once GPU hardware is available)</a:t>
            </a:r>
            <a:endParaRPr lang="en-US"/>
          </a:p>
          <a:p>
            <a:endParaRPr lang="en-US" sz="1600" b="1">
              <a:ea typeface="Calibri"/>
              <a:cs typeface="Calibri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xmlns="" id="{CBCD6D27-30BD-0329-6054-484FB0AFF9FA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xmlns="" id="{81F22560-46A6-6A33-A536-D6E26EECAE37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DE44A3EB-6C23-D0C4-BF90-1BA0EFCED6EA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00</a:t>
            </a:r>
            <a:endParaRPr lang="en-US" sz="900" dirty="0"/>
          </a:p>
        </p:txBody>
      </p:sp>
      <p:graphicFrame>
        <p:nvGraphicFramePr>
          <p:cNvPr id="10" name="Table 0">
            <a:extLst>
              <a:ext uri="{FF2B5EF4-FFF2-40B4-BE49-F238E27FC236}">
                <a16:creationId xmlns:a16="http://schemas.microsoft.com/office/drawing/2014/main" xmlns="" id="{684D43DF-DC64-8F5D-D59F-33C22A38F7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3921750"/>
              </p:ext>
            </p:extLst>
          </p:nvPr>
        </p:nvGraphicFramePr>
        <p:xfrm>
          <a:off x="892328" y="1288396"/>
          <a:ext cx="8002068" cy="2316480"/>
        </p:xfrm>
        <a:graphic>
          <a:graphicData uri="http://schemas.openxmlformats.org/drawingml/2006/table">
            <a:tbl>
              <a:tblPr/>
              <a:tblGrid>
                <a:gridCol w="314324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8588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232419"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Alternative</a:t>
                      </a:r>
                      <a:endParaRPr lang="en-US" b="0" i="0" u="none" strike="noStrike" noProof="0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sz="1150" b="0" i="0" u="none" strike="noStrike" noProof="0">
                          <a:solidFill>
                            <a:srgbClr val="F7F2E7"/>
                          </a:solidFill>
                        </a:rPr>
                        <a:t>Why Rejected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 err="1">
                          <a:solidFill>
                            <a:schemeClr val="tx1"/>
                          </a:solidFill>
                        </a:rPr>
                        <a:t>ElevenLabs</a:t>
                      </a: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 Turbo v2.5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Highest voice quality but paid after small free tier — not sustainable for a research prototype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40883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Azure TTS (cloud API)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Paid after free credits, same neural voices as Edge-TTS but with added cost and cloud dependency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523874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Fish Speech V1.5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Good open-source option, but Egyptian Arabic voice quality not documented; Edge-TTS is more established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32419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</a:rPr>
                        <a:t>Google Cloud TTS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150" b="0" i="0" u="none" strike="noStrike" noProof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Paid, no dedicated Egyptian dialect voice</a:t>
                      </a:r>
                      <a:endParaRPr lang="en-US"/>
                    </a:p>
                  </a:txBody>
                  <a:tcPr marT="91440" marB="91440" anchor="ctr">
                    <a:lnL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7F2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4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37791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Mood Recognition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83924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Nayrouz Ahmed  -  Real-Time Facial Emotion Recognition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Recognition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2536638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Waleed  - Real-Time Age Estimation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 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4194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· Youssef Waleed ·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Gazebo, RS 2, Maps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00</a:t>
            </a:r>
            <a:endParaRPr lang="en-US" sz="9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06820600-A0D6-6644-F212-5B141E2B456E}"/>
              </a:ext>
            </a:extLst>
          </p:cNvPr>
          <p:cNvSpPr txBox="1"/>
          <p:nvPr/>
        </p:nvSpPr>
        <p:spPr>
          <a:xfrm>
            <a:off x="454234" y="1422281"/>
            <a:ext cx="6872287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"/>
              <a:buChar char="•"/>
            </a:pPr>
            <a:r>
              <a:rPr lang="en-US"/>
              <a:t>Designed a custom 2D occupancy map and converted it into a 3D Gazebo Sim world using ROS 2 Nav2</a:t>
            </a:r>
          </a:p>
          <a:p>
            <a:pPr>
              <a:buFont typeface=""/>
              <a:buChar char="•"/>
            </a:pPr>
            <a:endParaRPr lang="en-US"/>
          </a:p>
          <a:p>
            <a:pPr>
              <a:buFont typeface=""/>
              <a:buChar char="•"/>
            </a:pPr>
            <a:r>
              <a:rPr lang="en-US"/>
              <a:t>Simulated TurtleBot3 robot operating within the same environment in Gazebo Sim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Font typeface=""/>
              <a:buChar char="•"/>
            </a:pPr>
            <a:endParaRPr lang="en-US"/>
          </a:p>
          <a:p>
            <a:pPr>
              <a:buFont typeface=""/>
              <a:buChar char="•"/>
            </a:pPr>
            <a:r>
              <a:rPr lang="en-US"/>
              <a:t>Utilized RViz2 for real-time visualization of robot poses, sensor data, and navigation states</a:t>
            </a:r>
          </a:p>
          <a:p>
            <a:pPr>
              <a:buFont typeface=""/>
              <a:buChar char="•"/>
            </a:pPr>
            <a:endParaRPr lang="en-US">
              <a:ea typeface="Calibri"/>
              <a:cs typeface="Calibri"/>
            </a:endParaRPr>
          </a:p>
          <a:p>
            <a:pPr>
              <a:buFont typeface=""/>
              <a:buChar char="•"/>
            </a:pPr>
            <a:r>
              <a:rPr lang="en-US"/>
              <a:t>Integrated the Nav2 navigation stack for autonomous path planning and obstacle avoidance</a:t>
            </a:r>
          </a:p>
          <a:p>
            <a:pPr algn="ctr"/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EDB47C4A-4915-14AB-581B-B5CF04267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xmlns="" id="{56F0524F-13F7-54A0-5FD0-A553738C40DE}"/>
              </a:ext>
            </a:extLst>
          </p:cNvPr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Simulation &amp; Navigation </a:t>
            </a:r>
            <a:endParaRPr lang="en-US" sz="24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xmlns="" id="{00693454-3076-3CFB-F2A6-CD59AC6F8E0A}"/>
              </a:ext>
            </a:extLst>
          </p:cNvPr>
          <p:cNvSpPr/>
          <p:nvPr/>
        </p:nvSpPr>
        <p:spPr>
          <a:xfrm>
            <a:off x="548640" y="941832"/>
            <a:ext cx="41944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xmlns="" id="{D32358F1-219C-6CD3-63A6-C03D55DD7C34}"/>
              </a:ext>
            </a:extLst>
          </p:cNvPr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Saged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Khaled · Youssef Waleed ·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Gazebo, RS 2, Maps</a:t>
            </a:r>
            <a:endParaRPr lang="en-US" sz="11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xmlns="" id="{7BADC39F-580D-FB45-020D-8B0387E37516}"/>
              </a:ext>
            </a:extLst>
          </p:cNvPr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600"/>
              </a:spcAft>
              <a:buNone/>
            </a:pPr>
            <a:endParaRPr lang="en-US" sz="130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xmlns="" id="{759035F5-B2E2-C0E3-E439-7469451A5B9A}"/>
              </a:ext>
            </a:extLst>
          </p:cNvPr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xmlns="" id="{02CC01DA-0FA4-3A35-35CD-BEDD7E93F284}"/>
              </a:ext>
            </a:extLst>
          </p:cNvPr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xmlns="" id="{552A2AAB-8FD3-520B-65CA-4FCD0592BB70}"/>
              </a:ext>
            </a:extLst>
          </p:cNvPr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00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9106323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Hardware Prototype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40" y="941832"/>
            <a:ext cx="331947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33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Habiba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err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Ghoneim</a:t>
            </a:r>
            <a:r>
              <a:rPr lang="en-US" sz="1100" i="1">
                <a:solidFill>
                  <a:srgbClr val="6B6557"/>
                </a:solidFill>
                <a:ea typeface="Calibri" pitchFamily="34" charset="-122"/>
                <a:cs typeface="Calibri" pitchFamily="34" charset="-120"/>
              </a:rPr>
              <a:t> · Leena Gouda - Campus Delivery Robot</a:t>
            </a:r>
            <a:endParaRPr lang="en-US" sz="110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955280" cy="3154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endParaRPr lang="en-US" sz="1300">
              <a:solidFill>
                <a:prstClr val="black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kern="0" spc="20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>
              <a:solidFill>
                <a:prstClr val="black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dirty="0" smtClean="0">
                <a:solidFill>
                  <a:srgbClr val="A8862E"/>
                </a:solidFill>
                <a:ea typeface="Calibri" pitchFamily="34" charset="-122"/>
                <a:cs typeface="Calibri" pitchFamily="34" charset="-120"/>
              </a:rPr>
              <a:t>27 / 00</a:t>
            </a:r>
            <a:endParaRPr lang="en-US" sz="9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569476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0" y="3703320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2424805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02920" y="1051560"/>
            <a:ext cx="813816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>
                <a:solidFill>
                  <a:srgbClr val="F7F2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  ·  </a:t>
            </a:r>
            <a:r>
              <a:rPr lang="en-US" sz="1100">
                <a:solidFill>
                  <a:srgbClr val="EDE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always-on multilingual guide that adapts to every visitor — built for museums, but ready to serve airports, hospitals, malls, campuses, and expos with the same platform.</a:t>
            </a:r>
          </a:p>
        </p:txBody>
      </p:sp>
      <p:sp>
        <p:nvSpPr>
          <p:cNvPr id="6" name="Shape 4"/>
          <p:cNvSpPr/>
          <p:nvPr/>
        </p:nvSpPr>
        <p:spPr>
          <a:xfrm>
            <a:off x="502920" y="176479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85800" y="18379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Streams</a:t>
            </a:r>
            <a:endParaRPr lang="en-US" sz="120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Per-museum licensing (annual)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support contract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exhibit content packs</a:t>
            </a:r>
            <a:endParaRPr lang="en-US" sz="100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analytics dashboard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4663440" y="176479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846320" y="183794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Customers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Museums &amp; heritage sites (primary — GEM)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Airports &amp; metro stations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&amp; medical campuses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Expos, malls &amp; smart-city installations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02920" y="327355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800" y="33467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Structure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77724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Per-venue licensing (annual)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pack (museum / airport / hospital / retail)</a:t>
            </a:r>
            <a:endParaRPr lang="en-US" sz="1000">
              <a:solidFill>
                <a:srgbClr val="ECE4D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&amp; support contract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analytics dashboard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4663440" y="3273552"/>
            <a:ext cx="3977640" cy="1371600"/>
          </a:xfrm>
          <a:prstGeom prst="rect">
            <a:avLst/>
          </a:prstGeom>
          <a:solidFill>
            <a:srgbClr val="EDE4D0"/>
          </a:solidFill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846320" y="3346704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A886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Channels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937760" y="3657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&amp; tourism partnerships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fairs &amp; tech expos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deployments per industry</a:t>
            </a:r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00">
                <a:solidFill>
                  <a:srgbClr val="1520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B2B sales</a:t>
            </a:r>
            <a:endParaRPr lang="en-US" sz="1000"/>
          </a:p>
        </p:txBody>
      </p:sp>
      <p:sp>
        <p:nvSpPr>
          <p:cNvPr id="18" name="Shape 16"/>
          <p:cNvSpPr/>
          <p:nvPr/>
        </p:nvSpPr>
        <p:spPr>
          <a:xfrm>
            <a:off x="457200" y="4784746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11793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0000"/>
          </a:p>
        </p:txBody>
      </p:sp>
      <p:sp>
        <p:nvSpPr>
          <p:cNvPr id="5" name="Shape 3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00</a:t>
            </a:r>
            <a:endParaRPr lang="en-US" sz="9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0" y="3108960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0" i="1" spc="600">
                <a:solidFill>
                  <a:srgbClr val="152035"/>
                </a:solidFill>
                <a:latin typeface="Georgia"/>
              </a:rPr>
              <a:t>Gantt Chart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57600" y="3703320"/>
            <a:ext cx="1828800" cy="0"/>
          </a:xfrm>
          <a:prstGeom prst="line">
            <a:avLst/>
          </a:prstGeom>
          <a:ln w="1270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Timeline — Grad I &amp; Grad II</a:t>
            </a:r>
            <a:endParaRPr lang="en-US" sz="2400"/>
          </a:p>
        </p:txBody>
      </p:sp>
      <p:sp>
        <p:nvSpPr>
          <p:cNvPr id="3" name="Shape 1"/>
          <p:cNvSpPr/>
          <p:nvPr/>
        </p:nvSpPr>
        <p:spPr>
          <a:xfrm>
            <a:off x="548639" y="941832"/>
            <a:ext cx="5589023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2011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across 12 months — Grad I delivered Feb–May, Grad II runs Jun–Jan.</a:t>
            </a:r>
            <a:endParaRPr lang="en-US" sz="1100"/>
          </a:p>
        </p:txBody>
      </p:sp>
      <p:sp>
        <p:nvSpPr>
          <p:cNvPr id="54" name="Shape 52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Text 53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56" name="Text 54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00</a:t>
            </a:r>
            <a:endParaRPr lang="en-US" sz="900" dirty="0"/>
          </a:p>
        </p:txBody>
      </p:sp>
      <p:sp>
        <p:nvSpPr>
          <p:cNvPr id="57" name="TextBox 56"/>
          <p:cNvSpPr txBox="1"/>
          <p:nvPr/>
        </p:nvSpPr>
        <p:spPr>
          <a:xfrm>
            <a:off x="237744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Feb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89941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Mar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2138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Apr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94335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May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6532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Jun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8729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Jul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50926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Aug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03123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Sep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53199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Oct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75169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Nov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9714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Dec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19110" y="1463039"/>
            <a:ext cx="52197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 i="0">
                <a:solidFill>
                  <a:srgbClr val="A8862E"/>
                </a:solidFill>
                <a:latin typeface="Calibri"/>
              </a:rPr>
              <a:t>Jan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2377440" y="1709928"/>
            <a:ext cx="6263640" cy="0"/>
          </a:xfrm>
          <a:prstGeom prst="line">
            <a:avLst/>
          </a:prstGeom>
          <a:ln w="6350">
            <a:solidFill>
              <a:srgbClr val="C9A8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4465320" y="1600200"/>
            <a:ext cx="0" cy="2743200"/>
          </a:xfrm>
          <a:prstGeom prst="line">
            <a:avLst/>
          </a:prstGeom>
          <a:ln w="6350">
            <a:solidFill>
              <a:srgbClr val="ECE4D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2377440" y="1234439"/>
            <a:ext cx="208788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 spc="300">
                <a:solidFill>
                  <a:srgbClr val="A8862E"/>
                </a:solidFill>
                <a:latin typeface="Calibri"/>
              </a:rPr>
              <a:t>Grad 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465320" y="1234439"/>
            <a:ext cx="41757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0" i="1" spc="300">
                <a:solidFill>
                  <a:srgbClr val="A8862E"/>
                </a:solidFill>
                <a:latin typeface="Calibri"/>
              </a:rPr>
              <a:t>Grad II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176479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Research &amp; Lit Survey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377440" y="1920240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2414016" y="1819656"/>
            <a:ext cx="970787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502920" y="2061463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Web App (Grad I)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2377440" y="2216911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3384803" y="2116328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502920" y="2358136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AI / Voice (Grad I)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377440" y="2513584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3384803" y="2413000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2920" y="265480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Vision (Mood + Age)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377440" y="2810256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3384803" y="2709672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2920" y="2951480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Sim &amp; Navigation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377440" y="3106928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3384803" y="3006344"/>
            <a:ext cx="1043940" cy="166349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02920" y="324815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Hardware Assembly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2377440" y="3403600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3943350" y="3296921"/>
            <a:ext cx="2573274" cy="20726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502920" y="3544824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Full Integration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2377440" y="3700272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5023866" y="3599688"/>
            <a:ext cx="2536698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502920" y="3841495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Testing in Museum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2377440" y="3996943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7633715" y="3896359"/>
            <a:ext cx="448817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02920" y="4138167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0" i="0">
                <a:solidFill>
                  <a:srgbClr val="152035"/>
                </a:solidFill>
                <a:latin typeface="Calibri"/>
              </a:rPr>
              <a:t>Final Demo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2377440" y="4293615"/>
            <a:ext cx="6263640" cy="0"/>
          </a:xfrm>
          <a:prstGeom prst="line">
            <a:avLst/>
          </a:prstGeom>
          <a:ln w="3810">
            <a:solidFill>
              <a:srgbClr val="ECE4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Rectangle 98"/>
          <p:cNvSpPr/>
          <p:nvPr/>
        </p:nvSpPr>
        <p:spPr>
          <a:xfrm>
            <a:off x="8155685" y="4193031"/>
            <a:ext cx="448817" cy="20116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2377440" y="4526280"/>
            <a:ext cx="201168" cy="10972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265176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Completed (Grad I)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80560" y="4526280"/>
            <a:ext cx="201168" cy="109728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475488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In Progress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583680" y="4526280"/>
            <a:ext cx="201168" cy="109728"/>
          </a:xfrm>
          <a:prstGeom prst="rect">
            <a:avLst/>
          </a:prstGeom>
          <a:solidFill>
            <a:srgbClr val="8A6F2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858000" y="4498848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0" i="0">
                <a:solidFill>
                  <a:srgbClr val="152035"/>
                </a:solidFill>
                <a:latin typeface="Calibri"/>
              </a:rPr>
              <a:t>Planned (Grad II)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1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25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i="1" kern="0" spc="6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/>
          </a:p>
        </p:txBody>
      </p:sp>
      <p:sp>
        <p:nvSpPr>
          <p:cNvPr id="3" name="Shape 1"/>
          <p:cNvSpPr/>
          <p:nvPr/>
        </p:nvSpPr>
        <p:spPr>
          <a:xfrm>
            <a:off x="3703320" y="274320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4892040" y="2743200"/>
            <a:ext cx="54864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361688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4526280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4690872" y="2697480"/>
            <a:ext cx="91440" cy="91440"/>
          </a:xfrm>
          <a:prstGeom prst="diamond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kern="0" spc="300">
                <a:solidFill>
                  <a:srgbClr val="1520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THOTH — Smart Museum Guide Robot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4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6B6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github.com/MohamedEldairouty/THOTH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457200" y="4736592"/>
            <a:ext cx="8229600" cy="0"/>
          </a:xfrm>
          <a:prstGeom prst="line">
            <a:avLst/>
          </a:prstGeom>
          <a:noFill/>
          <a:ln w="6350">
            <a:solidFill>
              <a:srgbClr val="C9A8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0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THOTH — Smart Museum Guide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6858000" y="4800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A88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00</a:t>
            </a:r>
            <a:endParaRPr lang="en-US" sz="9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2084</Words>
  <Application>Microsoft Office PowerPoint</Application>
  <PresentationFormat>On-screen Show (16:9)</PresentationFormat>
  <Paragraphs>439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THOTH — Smart Museum Guide Robot</dc:title>
  <dc:subject>PptxGenJS Presentation</dc:subject>
  <dc:creator>THOTH Team</dc:creator>
  <cp:lastModifiedBy>Microsoft account</cp:lastModifiedBy>
  <cp:revision>8</cp:revision>
  <dcterms:created xsi:type="dcterms:W3CDTF">2026-05-19T17:57:45Z</dcterms:created>
  <dcterms:modified xsi:type="dcterms:W3CDTF">2026-05-25T12:51:12Z</dcterms:modified>
</cp:coreProperties>
</file>