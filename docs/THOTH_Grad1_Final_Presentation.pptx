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0" r:id="rId20"/>
    <p:sldId id="274" r:id="rId21"/>
    <p:sldId id="275" r:id="rId22"/>
    <p:sldId id="276" r:id="rId23"/>
    <p:sldId id="277" r:id="rId24"/>
    <p:sldId id="278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0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53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56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156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9575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23360" y="502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kern="0" spc="12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THOTH</a:t>
            </a:r>
            <a:endParaRPr lang="en-US" sz="6000" dirty="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i="1" kern="0" spc="3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Museum Guide Robot</a:t>
            </a:r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kern="0" spc="100" dirty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Graduation Project I — Final Presentation</a:t>
            </a:r>
            <a:endParaRPr lang="en-US" sz="1300" dirty="0">
              <a:solidFill>
                <a:prstClr val="black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Computer Engineering Department · AASTMT</a:t>
            </a:r>
            <a:endParaRPr lang="en-US" sz="1100" dirty="0">
              <a:solidFill>
                <a:prstClr val="black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100" dirty="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Supervised by</a:t>
            </a:r>
            <a:r>
              <a:rPr lang="en-US" sz="1000" kern="0" spc="100" dirty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kern="0" spc="100" dirty="0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Dr. </a:t>
            </a:r>
            <a:r>
              <a:rPr lang="en-US" sz="1000" kern="0" spc="100" dirty="0" err="1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Marwa</a:t>
            </a:r>
            <a:r>
              <a:rPr lang="en-US" sz="1000" kern="0" spc="100" dirty="0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kern="0" spc="100" dirty="0" err="1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Elshenawy</a:t>
            </a:r>
            <a:r>
              <a:rPr lang="en-US" sz="1000" kern="0" spc="100" dirty="0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000" kern="0" spc="100" dirty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·   </a:t>
            </a:r>
            <a:r>
              <a:rPr lang="en-US" sz="1000" kern="0" spc="100" dirty="0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Dr. Mohamed </a:t>
            </a:r>
            <a:r>
              <a:rPr lang="en-US" sz="1000" kern="0" spc="100" dirty="0" err="1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Elhabrouk</a:t>
            </a:r>
            <a:endParaRPr lang="en-US" sz="900" dirty="0">
              <a:solidFill>
                <a:prstClr val="black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100" dirty="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Presented </a:t>
            </a:r>
            <a:r>
              <a:rPr lang="en-US" sz="900" b="1" kern="0" spc="100" dirty="0" smtClean="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by</a:t>
            </a:r>
            <a:r>
              <a:rPr lang="en-US" sz="1000" kern="0" spc="100" dirty="0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Leena Gouda – </a:t>
            </a:r>
            <a:r>
              <a:rPr lang="en-US" sz="1000" kern="0" spc="100" dirty="0" err="1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Nayrouz</a:t>
            </a:r>
            <a:r>
              <a:rPr lang="en-US" sz="1000" kern="0" spc="100" dirty="0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Ahmed – </a:t>
            </a:r>
            <a:r>
              <a:rPr lang="en-US" sz="1000" kern="0" spc="100" dirty="0" err="1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000" kern="0" spc="100" dirty="0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kern="0" spc="100" dirty="0" err="1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000" kern="0" spc="100" dirty="0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– Youssef Waleed – </a:t>
            </a:r>
            <a:r>
              <a:rPr lang="en-US" sz="1000" kern="0" spc="100" dirty="0" err="1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000" kern="0" spc="100" dirty="0" smtClean="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Khaled – Mohamed Eldairouty</a:t>
            </a:r>
            <a:endParaRPr lang="en-US" sz="900" dirty="0">
              <a:solidFill>
                <a:prstClr val="black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kern="0" spc="400" dirty="0" smtClean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2026 - 2027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 dirty="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>
              <a:solidFill>
                <a:prstClr val="black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580" y="365430"/>
            <a:ext cx="1213060" cy="1213060"/>
          </a:xfrm>
          <a:prstGeom prst="rect">
            <a:avLst/>
          </a:prstGeom>
        </p:spPr>
      </p:pic>
      <p:sp>
        <p:nvSpPr>
          <p:cNvPr id="24" name="Shape 1"/>
          <p:cNvSpPr/>
          <p:nvPr/>
        </p:nvSpPr>
        <p:spPr>
          <a:xfrm>
            <a:off x="3703320" y="310896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"/>
          <p:cNvSpPr/>
          <p:nvPr/>
        </p:nvSpPr>
        <p:spPr>
          <a:xfrm>
            <a:off x="4892040" y="310896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3"/>
          <p:cNvSpPr/>
          <p:nvPr/>
        </p:nvSpPr>
        <p:spPr>
          <a:xfrm>
            <a:off x="4361688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4"/>
          <p:cNvSpPr/>
          <p:nvPr/>
        </p:nvSpPr>
        <p:spPr>
          <a:xfrm>
            <a:off x="4526280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5"/>
          <p:cNvSpPr/>
          <p:nvPr/>
        </p:nvSpPr>
        <p:spPr>
          <a:xfrm>
            <a:off x="4690872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87711" y="4822344"/>
            <a:ext cx="57341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24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950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01694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824728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its first month, the Grand Egyptian Museum became the third most-visited museum in the world — drawing up to 19,000 visitors a day.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45% of those visitors come from outside Egypt, often without a personal guide. Audio handsets play the same one-language script to a child and a researcher, can't answer a follow-up question, and leave international visitors without usable narration.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is an autonomous robot built for this gap: it walks visitors through the halls, talks with them in their own language, reads their mood to adjust how it speaks, and is accessible by design.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46520" y="1325880"/>
            <a:ext cx="0" cy="315468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583680" y="149047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0" y="1417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Navigation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583680" y="208483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0" y="20116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Conversation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0" y="267919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766560" y="2606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+ Age Awareness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327355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766560" y="3200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(EN · AR · </a:t>
            </a:r>
            <a:r>
              <a:rPr lang="en-US" sz="1150" b="1" dirty="0" smtClean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…)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Enough Human Guides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Museums can't staff a personal guide for every visitor. At peak hours most people walk through with no narration at all.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93776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Barriers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Tours run in one or two languages. International visitors get a leaflet and silence.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Script for Everyone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guides play the same monologue to a curious 9-year-old, a researcher, and a passing tourist.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93776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 Gaps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who are deaf, blind, in wheelchairs, or non-native speakers are treated as edge cases, not as the default.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not minor inconveniences — they affect millions of museum visits every year.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24" name="Shape 1"/>
          <p:cNvSpPr/>
          <p:nvPr/>
        </p:nvSpPr>
        <p:spPr>
          <a:xfrm>
            <a:off x="555217" y="941832"/>
            <a:ext cx="301686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8107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Aims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Aims &amp; Objectives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80635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94360" y="13624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325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autonomous robot that navigates a real museum floor with live obstacle avoidance.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18196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real conversation in English, Arabic, French, and more — by text or voice.</a:t>
            </a:r>
          </a:p>
        </p:txBody>
      </p:sp>
      <p:sp>
        <p:nvSpPr>
          <p:cNvPr id="10" name="Shape 8"/>
          <p:cNvSpPr/>
          <p:nvPr/>
        </p:nvSpPr>
        <p:spPr>
          <a:xfrm>
            <a:off x="594360" y="22768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visitor's mood and age in real time, and adjust tone and pace.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27340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9436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2697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production-grade touchscreen web app: exhibit browsing, map, chat, settings.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1912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436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accessibility as default: captions, large fonts, audio narration, RTL support.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36484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" y="3611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it customizable — one system, many venues: museums, airports, hospitals, expos.</a:t>
            </a:r>
          </a:p>
        </p:txBody>
      </p:sp>
      <p:sp>
        <p:nvSpPr>
          <p:cNvPr id="22" name="Shape 20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24949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707677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021352"/>
              </p:ext>
            </p:extLst>
          </p:nvPr>
        </p:nvGraphicFramePr>
        <p:xfrm>
          <a:off x="548640" y="1325880"/>
          <a:ext cx="8046720" cy="233172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2926080"/>
              </a:tblGrid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7F2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7F2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7F2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Lacks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Pepper (SoftBank)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interaction, multilingual touchscreen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autonomous navigation in large halls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Cruzr (UBTECH)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Conversation, face recognition, mobility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— not built for museums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CAPIO (Carnegie Mellon)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Museum tour scripts, speech interaction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emotion detection, no personalization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InBot Museum Guide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Touchscreen tours, exhibit info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paths only, no real autonomy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8046720" cy="59436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existing system combines autonomous navigation, conversational LLM, real-time mood / age recognition, and full multilingual support. THOTH does.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854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31546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703320" y="2514600"/>
            <a:ext cx="173736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703320" y="2514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Brain</a:t>
            </a:r>
            <a:endParaRPr lang="en-US" sz="13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D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Mini-PC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Hardware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· RGB-D · Mic · Speaker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Nav2 · SLAM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52044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Motors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motors · drivers · LiPo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32588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9224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FastAPI · PostgreSQL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242316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92240" y="2423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 · Whisper · edge-tts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55080" y="352044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92240" y="3520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DeepFace (mood + age)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55080" y="2788920"/>
            <a:ext cx="0" cy="4572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355080" y="3886200"/>
            <a:ext cx="0" cy="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smtClean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I — What We Built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409572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modules, </a:t>
            </a:r>
            <a:r>
              <a:rPr lang="en-US" sz="11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</a:t>
            </a: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integrate in Project II.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Web App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</a:t>
            </a:r>
            <a:r>
              <a:rPr lang="en-US" sz="9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Abdallah Eldairouty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7512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</a:t>
            </a:r>
            <a:r>
              <a:rPr lang="en-US" sz="1000" dirty="0" err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PostgreSQL. The integration layer that ties together the LLM chat, vision models (mood + age), navigation, and simulation map — one </a:t>
            </a:r>
            <a:r>
              <a:rPr lang="en-US" sz="1000" dirty="0" err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demoable</a:t>
            </a: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3552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273552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38144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AI &amp; Voice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38144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38144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pipeline (Gemini) + Whisper STT + edge-tts TTS. Multilingual in three languages, exhibit-aware prompts.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44184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044184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208776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Recognition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08776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Nayrouz Ahmed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08776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facial emotion recognition using OpenCV and a deep-learning model. Streams predictions to the robot brain.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02920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67512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7512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age estimation from a single camera frame. Used to tune the robot's tone for kids vs. adults.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73552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273552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438144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smtClean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38144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9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&amp; Youssef Waleed &amp; </a:t>
            </a:r>
            <a:r>
              <a:rPr lang="en-US" sz="900" i="1" dirty="0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9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Amr 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438144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Gazebo museum environment and ROS 2 navigation stack — used to validate routes before hardware.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44184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044184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208776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Prototype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08776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dirty="0" err="1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9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Amr &amp; Leena Gouda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08776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i="1" dirty="0"/>
              <a:t>Working campus delivery robot — proves the base, motors, and control loop in real corridors.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Touchscreen Web Application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4727251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Abdallah Eldairouty  </a:t>
            </a:r>
            <a:r>
              <a:rPr lang="en-US" sz="11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</a:t>
            </a:r>
            <a:endParaRPr lang="en-US" sz="1100" dirty="0"/>
          </a:p>
        </p:txBody>
      </p:sp>
      <p:pic>
        <p:nvPicPr>
          <p:cNvPr id="5" name="Image 0" descr="D:/Prog/Thoth/assets/screenshots/THOTH_HomePag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371600"/>
            <a:ext cx="425196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71600"/>
            <a:ext cx="4251960" cy="3108960"/>
          </a:xfrm>
          <a:prstGeom prst="rect">
            <a:avLst/>
          </a:prstGeom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02920" y="449884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home page — running locally against the real backend.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37760" y="1371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visitor's window into the museum.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0" y="17830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architecture, not a mock-up.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runs on a kiosk, a phone, or the </a:t>
            </a:r>
            <a:r>
              <a:rPr lang="en-US" sz="1200" dirty="0" smtClean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robot.</a:t>
            </a:r>
            <a:endParaRPr lang="en-US" sz="1200" dirty="0">
              <a:solidFill>
                <a:srgbClr val="ECE4D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content resolved server-side — frontend stays simple.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calls go through the backend — </a:t>
            </a:r>
            <a:r>
              <a:rPr lang="en-US" sz="1200" dirty="0" smtClean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</a:t>
            </a:r>
            <a:r>
              <a:rPr lang="en-US" sz="12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swap providers.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the LLM chat to the vision models — THOTH adapts how it speaks to who's in front of it (mood + age).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same ROS 2 navigation and simulation we </a:t>
            </a:r>
            <a:r>
              <a:rPr lang="en-US" sz="1200" dirty="0" smtClean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built. 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 — Architecture &amp; Pages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5108799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5740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Vite  ·  TypeScript  ·  Tailwind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13232" y="1965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Pydantic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242316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13232" y="2514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 ·  AI orchestration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297180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1323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 ·  Alembic  ·  PostgreSQL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352044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13232" y="3611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Services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5740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 ·  Whisper  ·  edge-tts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14173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10328" y="1417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1417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language switch, quick actions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18745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910328" y="18745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Exhibits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1874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filter by hall, era, category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23317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910328" y="2331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Exhibit Detail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23317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Story, media, audio narration, chat link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27889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910328" y="2788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Museum Map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2788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robot marker, route preview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32461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910328" y="32461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THOTH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17920" y="3246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voice chat, plays back TTS reply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37033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910328" y="3703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17920" y="3703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font size, captions, audio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Conversation &amp; Voice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</a:t>
            </a:r>
            <a:r>
              <a:rPr lang="en-US" sz="11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 LLM </a:t>
            </a: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Speech-to-Text · Text-to-Speech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Recognition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83924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Nayrouz Ahmed  </a:t>
            </a:r>
            <a:r>
              <a:rPr lang="en-US" sz="11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Facial Emotion Recognition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2536638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  </a:t>
            </a:r>
            <a:r>
              <a:rPr lang="en-US" sz="11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Age Estimation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smtClean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 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4194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 err="1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1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Khaled</a:t>
            </a:r>
            <a:r>
              <a:rPr lang="en-US" sz="11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 · </a:t>
            </a:r>
            <a:r>
              <a:rPr lang="en-US" sz="1100" i="1" dirty="0" err="1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lang="en-US" sz="11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Gazebo</a:t>
            </a: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2, Maps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Prototype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331947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 smtClean="0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 dirty="0" smtClean="0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 dirty="0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smtClean="0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· Leena Gouda - Campus </a:t>
            </a:r>
            <a:r>
              <a:rPr lang="en-US" sz="1100" i="1" dirty="0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Delivery Robot</a:t>
            </a:r>
            <a:endParaRPr lang="en-US" sz="1100" dirty="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endParaRPr lang="en-US" sz="1300" dirty="0">
              <a:solidFill>
                <a:prstClr val="black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 dirty="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>
              <a:solidFill>
                <a:prstClr val="black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 smtClean="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19 </a:t>
            </a:r>
            <a:r>
              <a:rPr lang="en-US" sz="900" dirty="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24</a:t>
            </a:r>
            <a:endParaRPr lang="en-US" sz="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6947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42480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813816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 </a:t>
            </a:r>
            <a:r>
              <a:rPr lang="en-US" sz="1200" b="1" dirty="0" smtClean="0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100" dirty="0">
                <a:solidFill>
                  <a:srgbClr val="ED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multilingual guide that adapts to every visitor — </a:t>
            </a:r>
            <a:r>
              <a:rPr lang="en-US" sz="1100" dirty="0" smtClean="0">
                <a:solidFill>
                  <a:srgbClr val="ED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</a:t>
            </a:r>
            <a:r>
              <a:rPr lang="en-US" sz="1100" dirty="0">
                <a:solidFill>
                  <a:srgbClr val="ED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museums, but ready to serve airports, hospitals, malls</a:t>
            </a:r>
            <a:r>
              <a:rPr lang="en-US" sz="1100" dirty="0" smtClean="0">
                <a:solidFill>
                  <a:srgbClr val="ED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campuses, </a:t>
            </a:r>
            <a:r>
              <a:rPr lang="en-US" sz="1100" dirty="0">
                <a:solidFill>
                  <a:srgbClr val="ED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expos with the same platform</a:t>
            </a:r>
            <a:r>
              <a:rPr lang="en-US" sz="1100" dirty="0" smtClean="0">
                <a:solidFill>
                  <a:srgbClr val="ED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rgbClr val="EDE4D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176479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8379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Streams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Per-museum licensing (annual)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support contract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exhibit content packs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analytics dashboard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76479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46320" y="18379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Customers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Museums &amp; heritage sites (primary — GEM)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&amp; metro stations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 smtClean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</a:t>
            </a: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campuses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Expos, malls &amp; smart-city installations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5800" y="33467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Structure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Per-venue licensing (annual)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pack (museum / airport / hospital / </a:t>
            </a:r>
            <a:r>
              <a:rPr lang="en-US" sz="1000" dirty="0" smtClean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retail)</a:t>
            </a:r>
            <a:endParaRPr lang="en-US" sz="1000" dirty="0">
              <a:solidFill>
                <a:srgbClr val="ECE4D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support contract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analytics dashboard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27355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46320" y="33467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tourism partnerships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fairs &amp; tech expos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deployments per industry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 dirty="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B2B sales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784746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11793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0" i="1" spc="600">
                <a:solidFill>
                  <a:srgbClr val="152035"/>
                </a:solidFill>
                <a:latin typeface="Georgia"/>
              </a:rPr>
              <a:t>Gantt Chart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0" y="3703320"/>
            <a:ext cx="182880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 — Grad I &amp; Grad II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558902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201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smtClean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</a:t>
            </a: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12 months — Grad I delivered Feb–May, Grad II runs Jun–Jan.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  <p:sp>
        <p:nvSpPr>
          <p:cNvPr id="57" name="TextBox 56"/>
          <p:cNvSpPr txBox="1"/>
          <p:nvPr/>
        </p:nvSpPr>
        <p:spPr>
          <a:xfrm>
            <a:off x="237744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Feb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9941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Mar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2138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Apr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4335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May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6532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Jun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729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Jul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0926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Aug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123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Sep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3199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Oct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75169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Nov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9714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Dec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1911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Jan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377440" y="1709928"/>
            <a:ext cx="6263640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465320" y="1600200"/>
            <a:ext cx="0" cy="2743200"/>
          </a:xfrm>
          <a:prstGeom prst="line">
            <a:avLst/>
          </a:prstGeom>
          <a:ln w="6350">
            <a:solidFill>
              <a:srgbClr val="ECE4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377440" y="1234439"/>
            <a:ext cx="20878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 spc="300">
                <a:solidFill>
                  <a:srgbClr val="A8862E"/>
                </a:solidFill>
                <a:latin typeface="Calibri"/>
              </a:rPr>
              <a:t>Grad 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65320" y="1234439"/>
            <a:ext cx="417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 spc="300">
                <a:solidFill>
                  <a:srgbClr val="A8862E"/>
                </a:solidFill>
                <a:latin typeface="Calibri"/>
              </a:rPr>
              <a:t>Grad II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176479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Research &amp; Lit Survey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377440" y="1920240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2414016" y="1819656"/>
            <a:ext cx="970787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02920" y="2061463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Web App (Grad I)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377440" y="2216911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3384803" y="2116328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02920" y="23581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 dirty="0">
                <a:solidFill>
                  <a:srgbClr val="152035"/>
                </a:solidFill>
                <a:latin typeface="Calibri"/>
              </a:rPr>
              <a:t>AI / Voice (Grad I)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377440" y="2513584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3384803" y="2413000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920" y="265480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Vision (Mood + Age)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377440" y="2810256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3384803" y="2709672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2920" y="29514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Sim &amp; Navigation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377440" y="3106928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3384803" y="3006344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02920" y="324815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Hardware Assembly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377440" y="3403600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3943350" y="3296921"/>
            <a:ext cx="2573274" cy="20726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02920" y="354482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Full Integration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377440" y="3700272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5023866" y="3599688"/>
            <a:ext cx="2536698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02920" y="3841495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Testing in Museum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2377440" y="3996943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7633715" y="3896359"/>
            <a:ext cx="448817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02920" y="4138167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Final Demo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377440" y="4293615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8155685" y="4193031"/>
            <a:ext cx="448817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377440" y="4526280"/>
            <a:ext cx="201168" cy="10972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5176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Completed (Grad I)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80560" y="4526280"/>
            <a:ext cx="201168" cy="10972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5488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In Progress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583680" y="4526280"/>
            <a:ext cx="201168" cy="10972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85800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Planned (Grad II)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i="1" kern="0" spc="6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703320" y="274320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892040" y="274320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61688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26280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690872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kern="0" spc="300" dirty="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THOTH — Smart Museum Guide Robot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github.com/MohamedEldairouty/THOTH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1456</Words>
  <Application>Microsoft Office PowerPoint</Application>
  <PresentationFormat>On-screen Show (16:9)</PresentationFormat>
  <Paragraphs>277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THOTH — Smart Museum Guide Robot</dc:title>
  <dc:subject>PptxGenJS Presentation</dc:subject>
  <dc:creator>THOTH Team</dc:creator>
  <cp:lastModifiedBy>Microsoft account</cp:lastModifiedBy>
  <cp:revision>21</cp:revision>
  <dcterms:created xsi:type="dcterms:W3CDTF">2026-05-19T17:57:45Z</dcterms:created>
  <dcterms:modified xsi:type="dcterms:W3CDTF">2026-05-21T23:23:40Z</dcterms:modified>
</cp:coreProperties>
</file>