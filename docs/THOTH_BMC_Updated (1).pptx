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79" r:id="rId2"/>
    <p:sldId id="280" r:id="rId3"/>
    <p:sldId id="275" r:id="rId4"/>
    <p:sldId id="282" r:id="rId5"/>
    <p:sldId id="277" r:id="rId6"/>
    <p:sldId id="283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6694AB5-7386-428F-89EB-4717962EBEA6}">
          <p14:sldIdLst>
            <p14:sldId id="279"/>
            <p14:sldId id="280"/>
            <p14:sldId id="275"/>
            <p14:sldId id="282"/>
            <p14:sldId id="277"/>
            <p14:sldId id="283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F2E7"/>
    <a:srgbClr val="B5973A"/>
    <a:srgbClr val="152035"/>
    <a:srgbClr val="987B3A"/>
    <a:srgbClr val="A98D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9AE237-10CD-A914-4A7B-2DE5B6BF0580}" v="8" dt="2026-05-25T20:52:37.588"/>
    <p1510:client id="{1565A3E7-4F66-5F61-BF1F-55DBE1918F04}" v="103" dt="2026-05-27T14:03:29.988"/>
    <p1510:client id="{17048AC6-76EA-E763-F3A5-F49A10879D81}" v="42" dt="2026-05-26T18:29:25.593"/>
    <p1510:client id="{2131637A-1701-4D0B-AF58-BDC632C98B71}" v="14" dt="2026-05-27T18:47:11.057"/>
    <p1510:client id="{505EBBA5-57F3-BC15-8BBF-B8C1C97BE4F8}" v="23" dt="2026-05-25T20:00:13.659"/>
    <p1510:client id="{525DCF54-E4C2-44E8-95CD-90671FB59C1F}" v="7" dt="2026-05-27T18:28:27.654"/>
    <p1510:client id="{573F191E-C237-B515-813A-08FE6683EC18}" v="200" dt="2026-05-25T19:00:59.103"/>
    <p1510:client id="{7E9EA352-5952-1931-5B83-C898D835F568}" v="4" dt="2026-05-27T15:56:27.695"/>
    <p1510:client id="{9A4B6CBC-F4A1-3B0D-218B-05281FCE575B}" v="47" dt="2026-05-26T19:10:38.315"/>
    <p1510:client id="{A11F32C5-E881-33B5-680B-45B95F48D57C}" v="88" dt="2026-05-25T22:36:34.396"/>
    <p1510:client id="{A52A1388-7602-CCA7-1077-346369704D2F}" v="2" dt="2026-05-26T11:05:24.684"/>
    <p1510:client id="{BC9C2A99-9CC8-CA01-B88D-66F9AD8ED4F0}" v="1106" dt="2026-05-26T14:13:48.048"/>
    <p1510:client id="{C0B18E9D-B71C-C0D6-2572-FA1AB7CACDB5}" v="772" dt="2026-05-26T21:25:29.239"/>
    <p1510:client id="{C5C37318-1B6E-4E30-36A7-87BCB3C8AD25}" v="107" dt="2026-05-25T22:07:01.034"/>
    <p1510:client id="{C6F49190-C708-4903-B948-9806A9854233}" v="78" dt="2026-05-27T17:55:48.843"/>
    <p1510:client id="{D3651D93-B45B-4225-60D0-F67CE333910C}" v="91" dt="2026-05-27T15:50:10.128"/>
    <p1510:client id="{DF6D1853-7CE6-D59D-2CB9-F2102F56CFB4}" v="144" dt="2026-05-27T15:53:52.121"/>
    <p1510:client id="{E5B99D4B-2B32-485E-FEA5-F18CC723C25C}" v="2451" dt="2026-05-26T12:51:28.436"/>
    <p1510:client id="{E734C907-D109-B65E-21F6-48CE5DB06EC5}" v="55" dt="2026-05-25T22:09:30.568"/>
    <p1510:client id="{F0F9438D-4BA3-4309-8F10-8C2AF0EF3896}" v="122" dt="2026-05-27T18:24:23.961"/>
    <p1510:client id="{F13F42A7-4AC0-5BCC-D6DA-5101F68BDD1A}" v="54" dt="2026-05-26T20:51:21.828"/>
    <p1510:client id="{FEE8B187-CD52-6E53-BA9C-7E4E8B328A4F}" v="4" dt="2026-05-27T15:54:23.8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65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64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85672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solidFill>
                  <a:prstClr val="black"/>
                </a:solidFill>
              </a:rPr>
              <a:pPr/>
              <a:t>1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01564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47298243-15CB-2008-81D6-512E0EBE0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AC29BDB1-11D7-C9A3-38FB-01302C1E32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907BB9C8-046D-F28F-6847-3224C88FE6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60F690E6-D53B-FD19-9B39-0185033DF5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solidFill>
                  <a:prstClr val="black"/>
                </a:solidFill>
              </a:rPr>
              <a:pPr/>
              <a:t>2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24426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solidFill>
                  <a:prstClr val="black"/>
                </a:solidFill>
              </a:rPr>
              <a:pPr/>
              <a:t>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83746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solidFill>
                  <a:prstClr val="black"/>
                </a:solidFill>
              </a:rPr>
              <a:pPr/>
              <a:t>6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45206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023360" y="50292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000">
              <a:solidFill>
                <a:prstClr val="black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18745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000" b="1" kern="0" spc="1200">
                <a:solidFill>
                  <a:srgbClr val="1520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THOTH</a:t>
            </a:r>
            <a:endParaRPr lang="en-US" sz="6000">
              <a:solidFill>
                <a:prstClr val="black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2606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i="1" kern="0" spc="300">
                <a:solidFill>
                  <a:srgbClr val="1520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Museum Guide Robot</a:t>
            </a:r>
            <a:endParaRPr lang="en-US" sz="2000">
              <a:solidFill>
                <a:prstClr val="black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kern="0" spc="100">
                <a:solidFill>
                  <a:srgbClr val="152035"/>
                </a:solidFill>
                <a:ea typeface="Calibri" pitchFamily="34" charset="-122"/>
                <a:cs typeface="Calibri" pitchFamily="34" charset="-120"/>
              </a:rPr>
              <a:t>Graduation Project I — Final Presentation</a:t>
            </a:r>
            <a:endParaRPr lang="en-US" sz="1300">
              <a:solidFill>
                <a:prstClr val="black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457200" y="35844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>
                <a:solidFill>
                  <a:srgbClr val="6B6557"/>
                </a:solidFill>
                <a:ea typeface="Calibri" pitchFamily="34" charset="-122"/>
                <a:cs typeface="Calibri" pitchFamily="34" charset="-120"/>
              </a:rPr>
              <a:t>Computer Engineering Department · AASTMT</a:t>
            </a:r>
            <a:endParaRPr lang="en-US" sz="1100">
              <a:solidFill>
                <a:prstClr val="black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457200" y="39502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kern="0" spc="100">
                <a:solidFill>
                  <a:srgbClr val="A8862E"/>
                </a:solidFill>
                <a:ea typeface="Calibri" pitchFamily="34" charset="-122"/>
                <a:cs typeface="Calibri" pitchFamily="34" charset="-120"/>
              </a:rPr>
              <a:t>Supervised by</a:t>
            </a:r>
            <a:r>
              <a:rPr lang="en-US" sz="1000" kern="0" spc="100">
                <a:solidFill>
                  <a:srgbClr val="152035"/>
                </a:solidFill>
                <a:ea typeface="Calibri" pitchFamily="34" charset="-122"/>
                <a:cs typeface="Calibri" pitchFamily="34" charset="-120"/>
              </a:rPr>
              <a:t>  Dr. </a:t>
            </a:r>
            <a:r>
              <a:rPr lang="en-US" sz="1000" kern="0" spc="100" err="1">
                <a:solidFill>
                  <a:srgbClr val="152035"/>
                </a:solidFill>
                <a:ea typeface="Calibri" pitchFamily="34" charset="-122"/>
                <a:cs typeface="Calibri" pitchFamily="34" charset="-120"/>
              </a:rPr>
              <a:t>Marwa</a:t>
            </a:r>
            <a:r>
              <a:rPr lang="en-US" sz="1000" kern="0" spc="100">
                <a:solidFill>
                  <a:srgbClr val="152035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kern="0" spc="100" err="1">
                <a:solidFill>
                  <a:srgbClr val="152035"/>
                </a:solidFill>
                <a:ea typeface="Calibri" pitchFamily="34" charset="-122"/>
                <a:cs typeface="Calibri" pitchFamily="34" charset="-120"/>
              </a:rPr>
              <a:t>Elshenawy</a:t>
            </a:r>
            <a:r>
              <a:rPr lang="en-US" sz="1000" kern="0" spc="100">
                <a:solidFill>
                  <a:srgbClr val="152035"/>
                </a:solidFill>
                <a:ea typeface="Calibri" pitchFamily="34" charset="-122"/>
                <a:cs typeface="Calibri" pitchFamily="34" charset="-120"/>
              </a:rPr>
              <a:t>   ·   Dr. Mohamed </a:t>
            </a:r>
            <a:r>
              <a:rPr lang="en-US" sz="1000" kern="0" spc="100" err="1">
                <a:solidFill>
                  <a:srgbClr val="152035"/>
                </a:solidFill>
                <a:ea typeface="Calibri" pitchFamily="34" charset="-122"/>
                <a:cs typeface="Calibri" pitchFamily="34" charset="-120"/>
              </a:rPr>
              <a:t>Elhabrouk</a:t>
            </a:r>
            <a:endParaRPr lang="en-US" sz="900">
              <a:solidFill>
                <a:prstClr val="black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kern="0" spc="100">
                <a:solidFill>
                  <a:srgbClr val="A8862E"/>
                </a:solidFill>
                <a:ea typeface="Calibri" pitchFamily="34" charset="-122"/>
                <a:cs typeface="Calibri" pitchFamily="34" charset="-120"/>
              </a:rPr>
              <a:t>Presented by</a:t>
            </a:r>
            <a:r>
              <a:rPr lang="en-US" sz="1000" kern="0" spc="100">
                <a:solidFill>
                  <a:srgbClr val="152035"/>
                </a:solidFill>
                <a:ea typeface="Calibri" pitchFamily="34" charset="-122"/>
                <a:cs typeface="Calibri" pitchFamily="34" charset="-120"/>
              </a:rPr>
              <a:t>  Leena Gouda – </a:t>
            </a:r>
            <a:r>
              <a:rPr lang="en-US" sz="1000" kern="0" spc="100" err="1">
                <a:solidFill>
                  <a:srgbClr val="152035"/>
                </a:solidFill>
                <a:ea typeface="Calibri" pitchFamily="34" charset="-122"/>
                <a:cs typeface="Calibri" pitchFamily="34" charset="-120"/>
              </a:rPr>
              <a:t>Nayrouz</a:t>
            </a:r>
            <a:r>
              <a:rPr lang="en-US" sz="1000" kern="0" spc="100">
                <a:solidFill>
                  <a:srgbClr val="152035"/>
                </a:solidFill>
                <a:ea typeface="Calibri" pitchFamily="34" charset="-122"/>
                <a:cs typeface="Calibri" pitchFamily="34" charset="-120"/>
              </a:rPr>
              <a:t> Ahmed – </a:t>
            </a:r>
            <a:r>
              <a:rPr lang="en-US" sz="1000" kern="0" spc="100" err="1">
                <a:solidFill>
                  <a:srgbClr val="152035"/>
                </a:solidFill>
                <a:ea typeface="Calibri" pitchFamily="34" charset="-122"/>
                <a:cs typeface="Calibri" pitchFamily="34" charset="-120"/>
              </a:rPr>
              <a:t>Habiba</a:t>
            </a:r>
            <a:r>
              <a:rPr lang="en-US" sz="1000" kern="0" spc="100">
                <a:solidFill>
                  <a:srgbClr val="152035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kern="0" spc="100" err="1">
                <a:solidFill>
                  <a:srgbClr val="152035"/>
                </a:solidFill>
                <a:ea typeface="Calibri" pitchFamily="34" charset="-122"/>
                <a:cs typeface="Calibri" pitchFamily="34" charset="-120"/>
              </a:rPr>
              <a:t>Ghoneim</a:t>
            </a:r>
            <a:r>
              <a:rPr lang="en-US" sz="1000" kern="0" spc="100">
                <a:solidFill>
                  <a:srgbClr val="152035"/>
                </a:solidFill>
                <a:ea typeface="Calibri" pitchFamily="34" charset="-122"/>
                <a:cs typeface="Calibri" pitchFamily="34" charset="-120"/>
              </a:rPr>
              <a:t> – Youssef Waleed – </a:t>
            </a:r>
            <a:r>
              <a:rPr lang="en-US" sz="1000" kern="0" spc="100" err="1">
                <a:solidFill>
                  <a:srgbClr val="152035"/>
                </a:solidFill>
                <a:ea typeface="Calibri" pitchFamily="34" charset="-122"/>
                <a:cs typeface="Calibri" pitchFamily="34" charset="-120"/>
              </a:rPr>
              <a:t>Saged</a:t>
            </a:r>
            <a:r>
              <a:rPr lang="en-US" sz="1000" kern="0" spc="100">
                <a:solidFill>
                  <a:srgbClr val="152035"/>
                </a:solidFill>
                <a:ea typeface="Calibri" pitchFamily="34" charset="-122"/>
                <a:cs typeface="Calibri" pitchFamily="34" charset="-120"/>
              </a:rPr>
              <a:t> Khaled – Mohamed Eldairouty</a:t>
            </a:r>
            <a:endParaRPr lang="en-US" sz="900">
              <a:solidFill>
                <a:prstClr val="black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i="1" kern="0" spc="400">
                <a:solidFill>
                  <a:srgbClr val="A88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2026 - 2027</a:t>
            </a:r>
            <a:endParaRPr lang="en-US" sz="1200">
              <a:solidFill>
                <a:prstClr val="black"/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kern="0" spc="200">
                <a:solidFill>
                  <a:srgbClr val="A8862E"/>
                </a:solidFill>
                <a:ea typeface="Calibri" pitchFamily="34" charset="-122"/>
                <a:cs typeface="Calibri" pitchFamily="34" charset="-120"/>
              </a:rPr>
              <a:t>THOTH — Smart Museum Guide</a:t>
            </a:r>
            <a:endParaRPr lang="en-US" sz="900">
              <a:solidFill>
                <a:prstClr val="black"/>
              </a:solidFill>
            </a:endParaRP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7580" y="365430"/>
            <a:ext cx="1213060" cy="1213060"/>
          </a:xfrm>
          <a:prstGeom prst="rect">
            <a:avLst/>
          </a:prstGeom>
        </p:spPr>
      </p:pic>
      <p:sp>
        <p:nvSpPr>
          <p:cNvPr id="24" name="Shape 1"/>
          <p:cNvSpPr/>
          <p:nvPr/>
        </p:nvSpPr>
        <p:spPr>
          <a:xfrm>
            <a:off x="3703320" y="3108960"/>
            <a:ext cx="54864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"/>
          <p:cNvSpPr/>
          <p:nvPr/>
        </p:nvSpPr>
        <p:spPr>
          <a:xfrm>
            <a:off x="4892040" y="3108960"/>
            <a:ext cx="54864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3"/>
          <p:cNvSpPr/>
          <p:nvPr/>
        </p:nvSpPr>
        <p:spPr>
          <a:xfrm>
            <a:off x="4361688" y="3063240"/>
            <a:ext cx="91440" cy="91440"/>
          </a:xfrm>
          <a:prstGeom prst="diamond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4"/>
          <p:cNvSpPr/>
          <p:nvPr/>
        </p:nvSpPr>
        <p:spPr>
          <a:xfrm>
            <a:off x="4526280" y="3063240"/>
            <a:ext cx="91440" cy="91440"/>
          </a:xfrm>
          <a:prstGeom prst="diamond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5"/>
          <p:cNvSpPr/>
          <p:nvPr/>
        </p:nvSpPr>
        <p:spPr>
          <a:xfrm>
            <a:off x="4690872" y="3063240"/>
            <a:ext cx="91440" cy="91440"/>
          </a:xfrm>
          <a:prstGeom prst="diamond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287711" y="4822344"/>
            <a:ext cx="573416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00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9501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6"/>
        </a:solidFill>
        <a:effectLst/>
      </p:bgPr>
    </p:bg>
    <p:spTree>
      <p:nvGrpSpPr>
        <p:cNvPr id="1" name="">
          <a:extLst>
            <a:ext uri="{FF2B5EF4-FFF2-40B4-BE49-F238E27FC236}">
              <a16:creationId xmlns="" xmlns:a16="http://schemas.microsoft.com/office/drawing/2014/main" id="{74E86C1B-4411-9BAC-B04B-6593C2D8E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="" xmlns:a16="http://schemas.microsoft.com/office/drawing/2014/main" id="{99218B54-4F95-D06C-6FAF-5DC40F356D25}"/>
              </a:ext>
            </a:extLst>
          </p:cNvPr>
          <p:cNvSpPr/>
          <p:nvPr/>
        </p:nvSpPr>
        <p:spPr>
          <a:xfrm>
            <a:off x="457200" y="616527"/>
            <a:ext cx="8229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0" b="1" kern="0" spc="600">
                <a:solidFill>
                  <a:srgbClr val="152035"/>
                </a:solidFill>
                <a:latin typeface="Georgia"/>
              </a:rPr>
              <a:t>07</a:t>
            </a:r>
            <a:endParaRPr lang="en-US" sz="20000">
              <a:solidFill>
                <a:prstClr val="black"/>
              </a:solidFill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="" xmlns:a16="http://schemas.microsoft.com/office/drawing/2014/main" id="{F9B21828-71ED-FC28-3E3B-B414FD03B250}"/>
              </a:ext>
            </a:extLst>
          </p:cNvPr>
          <p:cNvSpPr/>
          <p:nvPr/>
        </p:nvSpPr>
        <p:spPr>
          <a:xfrm>
            <a:off x="457200" y="31089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000" i="1" kern="0" spc="600">
                <a:solidFill>
                  <a:srgbClr val="1520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Model</a:t>
            </a:r>
            <a:endParaRPr lang="en-US" sz="3000">
              <a:solidFill>
                <a:prstClr val="black"/>
              </a:solidFill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="" xmlns:a16="http://schemas.microsoft.com/office/drawing/2014/main" id="{A1E03F55-6975-A66B-CE6E-666A96118ACF}"/>
              </a:ext>
            </a:extLst>
          </p:cNvPr>
          <p:cNvSpPr/>
          <p:nvPr/>
        </p:nvSpPr>
        <p:spPr>
          <a:xfrm>
            <a:off x="3657600" y="3703320"/>
            <a:ext cx="1828800" cy="0"/>
          </a:xfrm>
          <a:prstGeom prst="line">
            <a:avLst/>
          </a:prstGeom>
          <a:noFill/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="" xmlns:a16="http://schemas.microsoft.com/office/drawing/2014/main" id="{CD89E869-8269-5B15-F3E0-E0D3548B222C}"/>
              </a:ext>
            </a:extLst>
          </p:cNvPr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="" xmlns:a16="http://schemas.microsoft.com/office/drawing/2014/main" id="{2E7B23B2-6D34-B22D-2823-ECF85BC3BCA9}"/>
              </a:ext>
            </a:extLst>
          </p:cNvPr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kern="0" spc="200">
                <a:solidFill>
                  <a:srgbClr val="A8862E"/>
                </a:solidFill>
                <a:ea typeface="Calibri" pitchFamily="34" charset="-122"/>
                <a:cs typeface="Calibri" pitchFamily="34" charset="-120"/>
              </a:rPr>
              <a:t>THOTH — Smart Museum Guide</a:t>
            </a:r>
            <a:endParaRPr lang="en-US" sz="900">
              <a:solidFill>
                <a:prstClr val="black"/>
              </a:solidFill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="" xmlns:a16="http://schemas.microsoft.com/office/drawing/2014/main" id="{E55838C3-06CD-7CDD-47CE-4C82DD59D407}"/>
              </a:ext>
            </a:extLst>
          </p:cNvPr>
          <p:cNvSpPr/>
          <p:nvPr/>
        </p:nvSpPr>
        <p:spPr>
          <a:xfrm>
            <a:off x="685800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00">
                <a:solidFill>
                  <a:srgbClr val="A8862E"/>
                </a:solidFill>
                <a:ea typeface="Calibri" pitchFamily="34" charset="-122"/>
                <a:cs typeface="Calibri" pitchFamily="34" charset="-120"/>
              </a:rPr>
              <a:t>28 / 00</a:t>
            </a:r>
            <a:endParaRPr lang="en-US" sz="9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5701734"/>
      </p:ext>
    </p:extLst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Footer"/>
          <p:cNvSpPr/>
          <p:nvPr/>
        </p:nvSpPr>
        <p:spPr>
          <a:xfrm>
            <a:off x="457200" y="65532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buNone/>
            </a:pPr>
            <a:r>
              <a:rPr lang="en-US" sz="1000">
                <a:solidFill>
                  <a:srgbClr val="888070"/>
                </a:solidFill>
                <a:latin typeface="Calibri"/>
              </a:rPr>
              <a:t>THOTH — Smart Museum Guide</a:t>
            </a:r>
          </a:p>
        </p:txBody>
      </p:sp>
      <p:sp>
        <p:nvSpPr>
          <p:cNvPr id="100" name="PageNum"/>
          <p:cNvSpPr/>
          <p:nvPr/>
        </p:nvSpPr>
        <p:spPr>
          <a:xfrm>
            <a:off x="7772400" y="65532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buNone/>
            </a:pPr>
            <a:r>
              <a:rPr lang="en-US" sz="1000">
                <a:solidFill>
                  <a:srgbClr val="888070"/>
                </a:solidFill>
                <a:latin typeface="Calibri"/>
              </a:rPr>
              <a:t>28 / 00</a:t>
            </a:r>
          </a:p>
        </p:txBody>
      </p:sp>
      <p:sp>
        <p:nvSpPr>
          <p:cNvPr id="10" name="KeyPartners"/>
          <p:cNvSpPr/>
          <p:nvPr/>
        </p:nvSpPr>
        <p:spPr>
          <a:xfrm>
            <a:off x="457200" y="648000"/>
            <a:ext cx="1645920" cy="340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52035"/>
            </a:solidFill>
          </a:ln>
        </p:spPr>
        <p:txBody>
          <a:bodyPr wrap="square" lIns="91440" tIns="91440" rIns="91440" bIns="91440" rtlCol="0" anchor="t"/>
          <a:lstStyle/>
          <a:p>
            <a:pPr algn="l">
              <a:buNone/>
            </a:pPr>
            <a:r>
              <a:rPr lang="en-US" sz="900" b="1">
                <a:solidFill>
                  <a:srgbClr val="152035"/>
                </a:solidFill>
                <a:latin typeface="Calibri"/>
              </a:rPr>
              <a:t>● KEY PARTNERS</a:t>
            </a:r>
          </a:p>
          <a:p>
            <a:pPr algn="l">
              <a:buNone/>
            </a:pPr>
            <a:r>
              <a:rPr lang="en-US" sz="780">
                <a:solidFill>
                  <a:srgbClr val="222222"/>
                </a:solidFill>
                <a:latin typeface="Calibri"/>
              </a:rPr>
              <a:t>• AASTMT University</a:t>
            </a:r>
          </a:p>
          <a:p>
            <a:pPr algn="l">
              <a:buNone/>
            </a:pPr>
            <a:r>
              <a:rPr lang="en-US" sz="780">
                <a:solidFill>
                  <a:srgbClr val="222222"/>
                </a:solidFill>
                <a:latin typeface="Calibri"/>
              </a:rPr>
              <a:t>• Grand Egyptian Museum (GEM)</a:t>
            </a:r>
          </a:p>
          <a:p>
            <a:pPr algn="l">
              <a:buNone/>
            </a:pPr>
            <a:r>
              <a:rPr lang="en-US" sz="780">
                <a:solidFill>
                  <a:srgbClr val="222222"/>
                </a:solidFill>
                <a:latin typeface="Calibri"/>
              </a:rPr>
              <a:t>• Ministry of Tourism &amp; Antiquities</a:t>
            </a:r>
          </a:p>
          <a:p>
            <a:pPr algn="l">
              <a:buNone/>
            </a:pPr>
            <a:r>
              <a:rPr lang="en-US" sz="780">
                <a:solidFill>
                  <a:srgbClr val="222222"/>
                </a:solidFill>
                <a:latin typeface="Calibri"/>
              </a:rPr>
              <a:t>• AI/Cloud providers (OpenAI, Google)</a:t>
            </a:r>
          </a:p>
          <a:p>
            <a:pPr algn="l">
              <a:buNone/>
            </a:pPr>
            <a:r>
              <a:rPr lang="en-US" sz="780">
                <a:solidFill>
                  <a:srgbClr val="222222"/>
                </a:solidFill>
                <a:latin typeface="Calibri"/>
              </a:rPr>
              <a:t>• Hardware suppliers (NVIDIA, RPLiDAR)</a:t>
            </a:r>
          </a:p>
          <a:p>
            <a:pPr algn="l">
              <a:buNone/>
            </a:pPr>
            <a:r>
              <a:rPr lang="en-US" sz="780">
                <a:solidFill>
                  <a:srgbClr val="222222"/>
                </a:solidFill>
                <a:latin typeface="Calibri"/>
              </a:rPr>
              <a:t>• System integrators &amp; venues</a:t>
            </a:r>
          </a:p>
          <a:p>
            <a:pPr algn="l">
              <a:buNone/>
            </a:pPr>
            <a:r>
              <a:rPr lang="en-US" sz="780">
                <a:solidFill>
                  <a:srgbClr val="222222"/>
                </a:solidFill>
                <a:latin typeface="Calibri"/>
              </a:rPr>
              <a:t>• Egypt Vision 2030 initiatives</a:t>
            </a:r>
          </a:p>
        </p:txBody>
      </p:sp>
      <p:sp>
        <p:nvSpPr>
          <p:cNvPr id="11" name="KeyActivities"/>
          <p:cNvSpPr/>
          <p:nvPr/>
        </p:nvSpPr>
        <p:spPr>
          <a:xfrm>
            <a:off x="2103120" y="648000"/>
            <a:ext cx="1645920" cy="170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52035"/>
            </a:solidFill>
          </a:ln>
        </p:spPr>
        <p:txBody>
          <a:bodyPr wrap="square" lIns="91440" tIns="91440" rIns="91440" bIns="91440" rtlCol="0" anchor="t"/>
          <a:lstStyle/>
          <a:p>
            <a:pPr algn="l">
              <a:buNone/>
            </a:pPr>
            <a:r>
              <a:rPr lang="en-US" sz="900" b="1">
                <a:solidFill>
                  <a:srgbClr val="152035"/>
                </a:solidFill>
                <a:latin typeface="Calibri"/>
              </a:rPr>
              <a:t>● KEY ACTIVITIES</a:t>
            </a:r>
          </a:p>
          <a:p>
            <a:pPr algn="l">
              <a:buNone/>
            </a:pPr>
            <a:r>
              <a:rPr lang="en-US" sz="780">
                <a:solidFill>
                  <a:srgbClr val="222222"/>
                </a:solidFill>
                <a:latin typeface="Calibri"/>
              </a:rPr>
              <a:t>• Robot R&amp;D, SLAM &amp; Nav2 development</a:t>
            </a:r>
          </a:p>
          <a:p>
            <a:pPr algn="l">
              <a:buNone/>
            </a:pPr>
            <a:r>
              <a:rPr lang="en-US" sz="780">
                <a:solidFill>
                  <a:srgbClr val="222222"/>
                </a:solidFill>
                <a:latin typeface="Calibri"/>
              </a:rPr>
              <a:t>• LLM + STT/TTS integration &amp; tuning</a:t>
            </a:r>
          </a:p>
          <a:p>
            <a:pPr algn="l">
              <a:buNone/>
            </a:pPr>
            <a:r>
              <a:rPr lang="en-US" sz="780">
                <a:solidFill>
                  <a:srgbClr val="222222"/>
                </a:solidFill>
                <a:latin typeface="Calibri"/>
              </a:rPr>
              <a:t>• GUI/UX design &amp; touchscreen app</a:t>
            </a:r>
          </a:p>
          <a:p>
            <a:pPr algn="l">
              <a:buNone/>
            </a:pPr>
            <a:r>
              <a:rPr lang="en-US" sz="780">
                <a:solidFill>
                  <a:srgbClr val="222222"/>
                </a:solidFill>
                <a:latin typeface="Calibri"/>
              </a:rPr>
              <a:t>• Exhibit content curation per venue</a:t>
            </a:r>
          </a:p>
          <a:p>
            <a:pPr algn="l">
              <a:buNone/>
            </a:pPr>
            <a:r>
              <a:rPr lang="en-US" sz="780">
                <a:solidFill>
                  <a:srgbClr val="222222"/>
                </a:solidFill>
                <a:latin typeface="Calibri"/>
              </a:rPr>
              <a:t>• Pilot deployment &amp; on-site testing</a:t>
            </a:r>
          </a:p>
        </p:txBody>
      </p:sp>
      <p:sp>
        <p:nvSpPr>
          <p:cNvPr id="12" name="KeyResources"/>
          <p:cNvSpPr/>
          <p:nvPr/>
        </p:nvSpPr>
        <p:spPr>
          <a:xfrm>
            <a:off x="2103120" y="2348000"/>
            <a:ext cx="1645920" cy="170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52035"/>
            </a:solidFill>
          </a:ln>
        </p:spPr>
        <p:txBody>
          <a:bodyPr wrap="square" lIns="91440" tIns="91440" rIns="91440" bIns="91440" rtlCol="0" anchor="t"/>
          <a:lstStyle/>
          <a:p>
            <a:pPr algn="l">
              <a:buNone/>
            </a:pPr>
            <a:r>
              <a:rPr lang="en-US" sz="900" b="1">
                <a:solidFill>
                  <a:srgbClr val="152035"/>
                </a:solidFill>
                <a:latin typeface="Calibri"/>
              </a:rPr>
              <a:t>● KEY RESOURCES</a:t>
            </a:r>
          </a:p>
          <a:p>
            <a:pPr algn="l">
              <a:buNone/>
            </a:pPr>
            <a:r>
              <a:rPr lang="en-US" sz="780">
                <a:solidFill>
                  <a:srgbClr val="222222"/>
                </a:solidFill>
                <a:latin typeface="Calibri"/>
              </a:rPr>
              <a:t>• NVIDIA Jetson Orin Nano (edge AI)</a:t>
            </a:r>
          </a:p>
          <a:p>
            <a:pPr algn="l">
              <a:buNone/>
            </a:pPr>
            <a:r>
              <a:rPr lang="en-US" sz="780">
                <a:solidFill>
                  <a:srgbClr val="222222"/>
                </a:solidFill>
                <a:latin typeface="Calibri"/>
              </a:rPr>
              <a:t>• RPLiDAR A2/A3 + OAK-D depth camera</a:t>
            </a:r>
          </a:p>
          <a:p>
            <a:pPr algn="l">
              <a:buNone/>
            </a:pPr>
            <a:r>
              <a:rPr lang="en-US" sz="780">
                <a:solidFill>
                  <a:srgbClr val="222222"/>
                </a:solidFill>
                <a:latin typeface="Calibri"/>
              </a:rPr>
              <a:t>• ROS2 + Nav2 + Gazebo + RViz stack</a:t>
            </a:r>
          </a:p>
          <a:p>
            <a:pPr algn="l">
              <a:buNone/>
            </a:pPr>
            <a:r>
              <a:rPr lang="en-US" sz="780">
                <a:solidFill>
                  <a:srgbClr val="222222"/>
                </a:solidFill>
                <a:latin typeface="Calibri"/>
              </a:rPr>
              <a:t>• Whisper STT + ElevenLabs TTS + LLM</a:t>
            </a:r>
          </a:p>
          <a:p>
            <a:pPr algn="l">
              <a:buNone/>
            </a:pPr>
            <a:r>
              <a:rPr lang="en-US" sz="780">
                <a:solidFill>
                  <a:srgbClr val="222222"/>
                </a:solidFill>
                <a:latin typeface="Calibri"/>
              </a:rPr>
              <a:t>• 6-member multidisciplinary eng. team</a:t>
            </a:r>
          </a:p>
        </p:txBody>
      </p:sp>
      <p:sp>
        <p:nvSpPr>
          <p:cNvPr id="13" name="ValueProp"/>
          <p:cNvSpPr/>
          <p:nvPr/>
        </p:nvSpPr>
        <p:spPr>
          <a:xfrm>
            <a:off x="3749040" y="648000"/>
            <a:ext cx="1645920" cy="3400000"/>
          </a:xfrm>
          <a:prstGeom prst="rect">
            <a:avLst/>
          </a:prstGeom>
          <a:solidFill>
            <a:srgbClr val="152035"/>
          </a:solidFill>
          <a:ln w="19050">
            <a:solidFill>
              <a:srgbClr val="152035"/>
            </a:solidFill>
          </a:ln>
        </p:spPr>
        <p:txBody>
          <a:bodyPr wrap="square" lIns="91440" tIns="91440" rIns="91440" bIns="91440" rtlCol="0" anchor="t"/>
          <a:lstStyle/>
          <a:p>
            <a:pPr algn="l">
              <a:buNone/>
            </a:pPr>
            <a:r>
              <a:rPr lang="en-US" sz="900" b="1">
                <a:solidFill>
                  <a:srgbClr val="C9A84C"/>
                </a:solidFill>
                <a:latin typeface="Calibri"/>
              </a:rPr>
              <a:t>● VALUE PROPOSITIONS</a:t>
            </a:r>
          </a:p>
          <a:p>
            <a:pPr algn="l">
              <a:buNone/>
            </a:pPr>
            <a:r>
              <a:rPr lang="en-US" sz="780">
                <a:solidFill>
                  <a:srgbClr val="F0E6C8"/>
                </a:solidFill>
                <a:latin typeface="Calibri"/>
              </a:rPr>
              <a:t>• Autonomous indoor navigation (Nav2)</a:t>
            </a:r>
          </a:p>
          <a:p>
            <a:pPr algn="l">
              <a:buNone/>
            </a:pPr>
            <a:r>
              <a:rPr lang="en-US" sz="780">
                <a:solidFill>
                  <a:srgbClr val="F0E6C8"/>
                </a:solidFill>
                <a:latin typeface="Calibri"/>
              </a:rPr>
              <a:t>• Always-on multilingual guide (AR/EN/FR)</a:t>
            </a:r>
          </a:p>
          <a:p>
            <a:pPr algn="l">
              <a:buNone/>
            </a:pPr>
            <a:r>
              <a:rPr lang="en-US" sz="780">
                <a:solidFill>
                  <a:srgbClr val="F0E6C8"/>
                </a:solidFill>
                <a:latin typeface="Calibri"/>
              </a:rPr>
              <a:t>• Free-form LLM conversation</a:t>
            </a:r>
          </a:p>
          <a:p>
            <a:pPr algn="l">
              <a:buNone/>
            </a:pPr>
            <a:r>
              <a:rPr lang="en-US" sz="780">
                <a:solidFill>
                  <a:srgbClr val="F0E6C8"/>
                </a:solidFill>
                <a:latin typeface="Calibri"/>
              </a:rPr>
              <a:t>• Adapts to visitor age &amp; mood (CV)</a:t>
            </a:r>
          </a:p>
          <a:p>
            <a:pPr algn="l">
              <a:buNone/>
            </a:pPr>
            <a:r>
              <a:rPr lang="en-US" sz="780">
                <a:solidFill>
                  <a:srgbClr val="F0E6C8"/>
                </a:solidFill>
                <a:latin typeface="Calibri"/>
              </a:rPr>
              <a:t>• Multimedia exhibit display (video/images)</a:t>
            </a:r>
          </a:p>
          <a:p>
            <a:pPr algn="l">
              <a:buNone/>
            </a:pPr>
            <a:r>
              <a:rPr lang="en-US" sz="780">
                <a:solidFill>
                  <a:srgbClr val="F0E6C8"/>
                </a:solidFill>
                <a:latin typeface="Calibri"/>
              </a:rPr>
              <a:t>• Accessibility: captions, RTL, large fonts</a:t>
            </a:r>
          </a:p>
          <a:p>
            <a:pPr algn="l">
              <a:buNone/>
            </a:pPr>
            <a:r>
              <a:rPr lang="en-US" sz="780">
                <a:solidFill>
                  <a:srgbClr val="F0E6C8"/>
                </a:solidFill>
                <a:latin typeface="Calibri"/>
              </a:rPr>
              <a:t>• Scalable to airports, hospitals, expos</a:t>
            </a:r>
          </a:p>
          <a:p>
            <a:pPr algn="l">
              <a:buNone/>
            </a:pPr>
            <a:r>
              <a:rPr lang="en-US" sz="780">
                <a:solidFill>
                  <a:srgbClr val="F0E6C8"/>
                </a:solidFill>
                <a:latin typeface="Calibri"/>
              </a:rPr>
              <a:t>• Real-time visitor analytics dashboard</a:t>
            </a:r>
          </a:p>
        </p:txBody>
      </p:sp>
      <p:sp>
        <p:nvSpPr>
          <p:cNvPr id="14" name="CustRel"/>
          <p:cNvSpPr/>
          <p:nvPr/>
        </p:nvSpPr>
        <p:spPr>
          <a:xfrm>
            <a:off x="5394960" y="648000"/>
            <a:ext cx="1645920" cy="170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52035"/>
            </a:solidFill>
          </a:ln>
        </p:spPr>
        <p:txBody>
          <a:bodyPr wrap="square" lIns="91440" tIns="91440" rIns="91440" bIns="91440" rtlCol="0" anchor="t"/>
          <a:lstStyle/>
          <a:p>
            <a:pPr algn="l">
              <a:buNone/>
            </a:pPr>
            <a:r>
              <a:rPr lang="en-US" sz="900" b="1">
                <a:solidFill>
                  <a:srgbClr val="152035"/>
                </a:solidFill>
                <a:latin typeface="Calibri"/>
              </a:rPr>
              <a:t>● CUSTOMER RELATIONSHIPS</a:t>
            </a:r>
          </a:p>
          <a:p>
            <a:pPr algn="l">
              <a:buNone/>
            </a:pPr>
            <a:r>
              <a:rPr lang="en-US" sz="780">
                <a:solidFill>
                  <a:srgbClr val="222222"/>
                </a:solidFill>
                <a:latin typeface="Calibri"/>
              </a:rPr>
              <a:t>• GEM pilot deployment &amp; live demos</a:t>
            </a:r>
          </a:p>
          <a:p>
            <a:pPr algn="l">
              <a:buNone/>
            </a:pPr>
            <a:r>
              <a:rPr lang="en-US" sz="780">
                <a:solidFill>
                  <a:srgbClr val="222222"/>
                </a:solidFill>
                <a:latin typeface="Calibri"/>
              </a:rPr>
              <a:t>• Dedicated maintenance &amp; support SLAs</a:t>
            </a:r>
          </a:p>
          <a:p>
            <a:pPr algn="l">
              <a:buNone/>
            </a:pPr>
            <a:r>
              <a:rPr lang="en-US" sz="780">
                <a:solidFill>
                  <a:srgbClr val="222222"/>
                </a:solidFill>
                <a:latin typeface="Calibri"/>
              </a:rPr>
              <a:t>• Visitor analytics reports to management</a:t>
            </a:r>
          </a:p>
          <a:p>
            <a:pPr algn="l">
              <a:buNone/>
            </a:pPr>
            <a:r>
              <a:rPr lang="en-US" sz="780">
                <a:solidFill>
                  <a:srgbClr val="222222"/>
                </a:solidFill>
                <a:latin typeface="Calibri"/>
              </a:rPr>
              <a:t>• Onboarding &amp; staff training per venue</a:t>
            </a:r>
          </a:p>
        </p:txBody>
      </p:sp>
      <p:sp>
        <p:nvSpPr>
          <p:cNvPr id="15" name="Channels"/>
          <p:cNvSpPr/>
          <p:nvPr/>
        </p:nvSpPr>
        <p:spPr>
          <a:xfrm>
            <a:off x="5394960" y="2348000"/>
            <a:ext cx="1645920" cy="170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52035"/>
            </a:solidFill>
          </a:ln>
        </p:spPr>
        <p:txBody>
          <a:bodyPr wrap="square" lIns="91440" tIns="91440" rIns="91440" bIns="91440" rtlCol="0" anchor="t"/>
          <a:lstStyle/>
          <a:p>
            <a:pPr algn="l">
              <a:buNone/>
            </a:pPr>
            <a:r>
              <a:rPr lang="en-US" sz="900" b="1">
                <a:solidFill>
                  <a:srgbClr val="152035"/>
                </a:solidFill>
                <a:latin typeface="Calibri"/>
              </a:rPr>
              <a:t>● CHANNELS</a:t>
            </a:r>
          </a:p>
          <a:p>
            <a:pPr algn="l">
              <a:buNone/>
            </a:pPr>
            <a:r>
              <a:rPr lang="en-US" sz="780">
                <a:solidFill>
                  <a:srgbClr val="222222"/>
                </a:solidFill>
                <a:latin typeface="Calibri"/>
              </a:rPr>
              <a:t>• Government &amp; tourism partnerships</a:t>
            </a:r>
          </a:p>
          <a:p>
            <a:pPr algn="l">
              <a:buNone/>
            </a:pPr>
            <a:r>
              <a:rPr lang="en-US" sz="780">
                <a:solidFill>
                  <a:srgbClr val="222222"/>
                </a:solidFill>
                <a:latin typeface="Calibri"/>
              </a:rPr>
              <a:t>• Tech expos &amp; trade fairs</a:t>
            </a:r>
          </a:p>
          <a:p>
            <a:pPr algn="l">
              <a:buNone/>
            </a:pPr>
            <a:r>
              <a:rPr lang="en-US" sz="780">
                <a:solidFill>
                  <a:srgbClr val="222222"/>
                </a:solidFill>
                <a:latin typeface="Calibri"/>
              </a:rPr>
              <a:t>• Direct B2B sales to institutions</a:t>
            </a:r>
          </a:p>
          <a:p>
            <a:pPr algn="l">
              <a:buNone/>
            </a:pPr>
            <a:r>
              <a:rPr lang="en-US" sz="780">
                <a:solidFill>
                  <a:srgbClr val="222222"/>
                </a:solidFill>
                <a:latin typeface="Calibri"/>
              </a:rPr>
              <a:t>• Grad project showcase &amp; media coverage</a:t>
            </a:r>
          </a:p>
        </p:txBody>
      </p:sp>
      <p:sp>
        <p:nvSpPr>
          <p:cNvPr id="16" name="CustSeg"/>
          <p:cNvSpPr/>
          <p:nvPr/>
        </p:nvSpPr>
        <p:spPr>
          <a:xfrm>
            <a:off x="7040880" y="648000"/>
            <a:ext cx="1645920" cy="340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52035"/>
            </a:solidFill>
          </a:ln>
        </p:spPr>
        <p:txBody>
          <a:bodyPr wrap="square" lIns="91440" tIns="91440" rIns="91440" bIns="91440" rtlCol="0" anchor="t"/>
          <a:lstStyle/>
          <a:p>
            <a:pPr algn="l">
              <a:buNone/>
            </a:pPr>
            <a:r>
              <a:rPr lang="en-US" sz="900" b="1">
                <a:solidFill>
                  <a:srgbClr val="152035"/>
                </a:solidFill>
                <a:latin typeface="Calibri"/>
              </a:rPr>
              <a:t>● CUSTOMER SEGMENTS</a:t>
            </a:r>
          </a:p>
          <a:p>
            <a:pPr algn="l">
              <a:buNone/>
            </a:pPr>
            <a:r>
              <a:rPr lang="en-US" sz="780">
                <a:solidFill>
                  <a:srgbClr val="222222"/>
                </a:solidFill>
                <a:latin typeface="Calibri"/>
              </a:rPr>
              <a:t>• Museums &amp; heritage sites (primary: GEM)</a:t>
            </a:r>
          </a:p>
          <a:p>
            <a:pPr algn="l">
              <a:buNone/>
            </a:pPr>
            <a:r>
              <a:rPr lang="en-US" sz="780">
                <a:solidFill>
                  <a:srgbClr val="222222"/>
                </a:solidFill>
                <a:latin typeface="Calibri"/>
              </a:rPr>
              <a:t>• International &amp; foreign tourists</a:t>
            </a:r>
          </a:p>
          <a:p>
            <a:pPr algn="l">
              <a:buNone/>
            </a:pPr>
            <a:r>
              <a:rPr lang="en-US" sz="780">
                <a:solidFill>
                  <a:srgbClr val="222222"/>
                </a:solidFill>
                <a:latin typeface="Calibri"/>
              </a:rPr>
              <a:t>• Airports &amp; metro stations</a:t>
            </a:r>
          </a:p>
          <a:p>
            <a:pPr algn="l">
              <a:buNone/>
            </a:pPr>
            <a:r>
              <a:rPr lang="en-US" sz="780">
                <a:solidFill>
                  <a:srgbClr val="222222"/>
                </a:solidFill>
                <a:latin typeface="Calibri"/>
              </a:rPr>
              <a:t>• Academic &amp; medical campuses</a:t>
            </a:r>
          </a:p>
          <a:p>
            <a:pPr algn="l">
              <a:buNone/>
            </a:pPr>
            <a:r>
              <a:rPr lang="en-US" sz="780">
                <a:solidFill>
                  <a:srgbClr val="222222"/>
                </a:solidFill>
                <a:latin typeface="Calibri"/>
              </a:rPr>
              <a:t>• Expos, malls &amp; smart-city installations</a:t>
            </a:r>
          </a:p>
          <a:p>
            <a:pPr algn="l">
              <a:buNone/>
            </a:pPr>
            <a:r>
              <a:rPr lang="en-US" sz="780">
                <a:solidFill>
                  <a:srgbClr val="222222"/>
                </a:solidFill>
                <a:latin typeface="Calibri"/>
              </a:rPr>
              <a:t>• Visitors w/ hearing impairments</a:t>
            </a:r>
          </a:p>
        </p:txBody>
      </p:sp>
      <p:sp>
        <p:nvSpPr>
          <p:cNvPr id="17" name="CostStructure"/>
          <p:cNvSpPr/>
          <p:nvPr/>
        </p:nvSpPr>
        <p:spPr>
          <a:xfrm>
            <a:off x="457200" y="4048000"/>
            <a:ext cx="4114800" cy="210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52035"/>
            </a:solidFill>
          </a:ln>
        </p:spPr>
        <p:txBody>
          <a:bodyPr wrap="square" lIns="91440" tIns="91440" rIns="91440" bIns="91440" rtlCol="0" anchor="t"/>
          <a:lstStyle/>
          <a:p>
            <a:pPr algn="l">
              <a:buNone/>
            </a:pPr>
            <a:r>
              <a:rPr lang="en-US" sz="900" b="1">
                <a:solidFill>
                  <a:srgbClr val="152035"/>
                </a:solidFill>
                <a:latin typeface="Calibri"/>
              </a:rPr>
              <a:t>● COST STRUCTURE</a:t>
            </a:r>
          </a:p>
          <a:p>
            <a:pPr algn="l">
              <a:buNone/>
            </a:pPr>
            <a:r>
              <a:rPr lang="en-US" sz="780">
                <a:solidFill>
                  <a:srgbClr val="222222"/>
                </a:solidFill>
                <a:latin typeface="Calibri"/>
              </a:rPr>
              <a:t>• NVIDIA Jetson Orin Nano — ~35,000 EGP</a:t>
            </a:r>
          </a:p>
          <a:p>
            <a:pPr algn="l">
              <a:buNone/>
            </a:pPr>
            <a:r>
              <a:rPr lang="en-US" sz="780">
                <a:solidFill>
                  <a:srgbClr val="222222"/>
                </a:solidFill>
                <a:latin typeface="Calibri"/>
              </a:rPr>
              <a:t>• Navigation sensors (LiDAR + depth cam) — ~16,000 EGP</a:t>
            </a:r>
          </a:p>
          <a:p>
            <a:pPr algn="l">
              <a:buNone/>
            </a:pPr>
            <a:r>
              <a:rPr lang="en-US" sz="780">
                <a:solidFill>
                  <a:srgbClr val="222222"/>
                </a:solidFill>
                <a:latin typeface="Calibri"/>
              </a:rPr>
              <a:t>• Mobility system (motors, wheels, drivers) — ~5,000 EGP</a:t>
            </a:r>
          </a:p>
          <a:p>
            <a:pPr algn="l">
              <a:buNone/>
            </a:pPr>
            <a:r>
              <a:rPr lang="en-US" sz="780">
                <a:solidFill>
                  <a:srgbClr val="222222"/>
                </a:solidFill>
                <a:latin typeface="Calibri"/>
              </a:rPr>
              <a:t>• Interaction system (mic, speakers, display) — ~5,000 EGP</a:t>
            </a:r>
          </a:p>
          <a:p>
            <a:pPr algn="l">
              <a:buNone/>
            </a:pPr>
            <a:r>
              <a:rPr lang="en-US" sz="780">
                <a:solidFill>
                  <a:srgbClr val="222222"/>
                </a:solidFill>
                <a:latin typeface="Calibri"/>
              </a:rPr>
              <a:t>• Battery, frame, electronics — ~10,500 EGP</a:t>
            </a:r>
          </a:p>
          <a:p>
            <a:pPr algn="l">
              <a:buNone/>
            </a:pPr>
            <a:r>
              <a:rPr lang="en-US" sz="780">
                <a:solidFill>
                  <a:srgbClr val="222222"/>
                </a:solidFill>
                <a:latin typeface="Calibri"/>
              </a:rPr>
              <a:t>• Cloud AI APIs, maintenance &amp; support contracts</a:t>
            </a:r>
          </a:p>
          <a:p>
            <a:pPr algn="l">
              <a:buNone/>
            </a:pPr>
            <a:r>
              <a:rPr lang="en-US" sz="780" b="1">
                <a:solidFill>
                  <a:srgbClr val="152035"/>
                </a:solidFill>
                <a:latin typeface="Calibri"/>
              </a:rPr>
              <a:t>Total prototype budget: ~70,000–80,000 EGP</a:t>
            </a:r>
          </a:p>
        </p:txBody>
      </p:sp>
      <p:sp>
        <p:nvSpPr>
          <p:cNvPr id="18" name="RevenueStreams"/>
          <p:cNvSpPr/>
          <p:nvPr/>
        </p:nvSpPr>
        <p:spPr>
          <a:xfrm>
            <a:off x="4572000" y="4048000"/>
            <a:ext cx="4115000" cy="2100000"/>
          </a:xfrm>
          <a:prstGeom prst="rect">
            <a:avLst/>
          </a:prstGeom>
          <a:solidFill>
            <a:srgbClr val="152035"/>
          </a:solidFill>
          <a:ln w="19050">
            <a:solidFill>
              <a:srgbClr val="152035"/>
            </a:solidFill>
          </a:ln>
        </p:spPr>
        <p:txBody>
          <a:bodyPr wrap="square" lIns="91440" tIns="91440" rIns="91440" bIns="91440" rtlCol="0" anchor="t"/>
          <a:lstStyle/>
          <a:p>
            <a:pPr algn="l">
              <a:buNone/>
            </a:pPr>
            <a:r>
              <a:rPr lang="en-US" sz="900" b="1">
                <a:solidFill>
                  <a:srgbClr val="C9A84C"/>
                </a:solidFill>
                <a:latin typeface="Calibri"/>
              </a:rPr>
              <a:t>● REVENUE STREAMS</a:t>
            </a:r>
          </a:p>
          <a:p>
            <a:pPr algn="l">
              <a:buNone/>
            </a:pPr>
            <a:r>
              <a:rPr lang="en-US" sz="780">
                <a:solidFill>
                  <a:srgbClr val="F0E6C8"/>
                </a:solidFill>
                <a:latin typeface="Calibri"/>
              </a:rPr>
              <a:t>• One-time: Robot hardware sale per venue</a:t>
            </a:r>
          </a:p>
          <a:p>
            <a:pPr algn="l">
              <a:buNone/>
            </a:pPr>
            <a:r>
              <a:rPr lang="en-US" sz="780">
                <a:solidFill>
                  <a:srgbClr val="F0E6C8"/>
                </a:solidFill>
                <a:latin typeface="Calibri"/>
              </a:rPr>
              <a:t>• Recurring: Annual software license + AI subscription</a:t>
            </a:r>
          </a:p>
          <a:p>
            <a:pPr algn="l">
              <a:buNone/>
            </a:pPr>
            <a:r>
              <a:rPr lang="en-US" sz="780">
                <a:solidFill>
                  <a:srgbClr val="F0E6C8"/>
                </a:solidFill>
                <a:latin typeface="Calibri"/>
              </a:rPr>
              <a:t>• Recurring: Maintenance &amp; support contracts</a:t>
            </a:r>
          </a:p>
          <a:p>
            <a:pPr algn="l">
              <a:buNone/>
            </a:pPr>
            <a:r>
              <a:rPr lang="en-US" sz="780">
                <a:solidFill>
                  <a:srgbClr val="F0E6C8"/>
                </a:solidFill>
                <a:latin typeface="Calibri"/>
              </a:rPr>
              <a:t>• Add-on: Premium exhibit content packs</a:t>
            </a:r>
          </a:p>
          <a:p>
            <a:pPr algn="l">
              <a:buNone/>
            </a:pPr>
            <a:r>
              <a:rPr lang="en-US" sz="780">
                <a:solidFill>
                  <a:srgbClr val="F0E6C8"/>
                </a:solidFill>
                <a:latin typeface="Calibri"/>
              </a:rPr>
              <a:t>• Add-on: Visitor analytics dashboard subscription</a:t>
            </a:r>
          </a:p>
          <a:p>
            <a:pPr algn="l">
              <a:buNone/>
            </a:pPr>
            <a:r>
              <a:rPr lang="en-US" sz="780">
                <a:solidFill>
                  <a:srgbClr val="F0E6C8"/>
                </a:solidFill>
                <a:latin typeface="Calibri"/>
              </a:rPr>
              <a:t>• Add-on: Data monetization (R&amp;D firms)</a:t>
            </a:r>
          </a:p>
          <a:p>
            <a:pPr algn="l">
              <a:buNone/>
            </a:pPr>
            <a:r>
              <a:rPr lang="en-US" sz="780">
                <a:solidFill>
                  <a:srgbClr val="F0E6C8"/>
                </a:solidFill>
                <a:latin typeface="Calibri"/>
              </a:rPr>
              <a:t>• Add-on: Language &amp; domain-specific content packs</a:t>
            </a:r>
          </a:p>
        </p:txBody>
      </p:sp>
      <p:sp>
        <p:nvSpPr>
          <p:cNvPr id="19" name="Text 0"/>
          <p:cNvSpPr/>
          <p:nvPr/>
        </p:nvSpPr>
        <p:spPr>
          <a:xfrm>
            <a:off x="457200" y="22467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1520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Model</a:t>
            </a:r>
            <a:endParaRPr lang="en-US" sz="2400" dirty="0">
              <a:solidFill>
                <a:prstClr val="black"/>
              </a:solidFill>
            </a:endParaRPr>
          </a:p>
        </p:txBody>
      </p:sp>
      <p:sp>
        <p:nvSpPr>
          <p:cNvPr id="20" name="Shape 1"/>
          <p:cNvSpPr/>
          <p:nvPr/>
        </p:nvSpPr>
        <p:spPr>
          <a:xfrm flipV="1">
            <a:off x="450273" y="552818"/>
            <a:ext cx="2431731" cy="15217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  <p:txBody>
          <a:bodyPr/>
          <a:lstStyle/>
          <a:p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11793"/>
            <a:ext cx="8229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0" b="1" kern="0" spc="600">
                <a:solidFill>
                  <a:srgbClr val="152035"/>
                </a:solidFill>
                <a:latin typeface="Georgia"/>
              </a:rPr>
              <a:t>08</a:t>
            </a:r>
            <a:endParaRPr lang="en-US" sz="20000">
              <a:solidFill>
                <a:prstClr val="black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kern="0" spc="200">
                <a:solidFill>
                  <a:srgbClr val="A8862E"/>
                </a:solidFill>
                <a:ea typeface="Calibri" pitchFamily="34" charset="-122"/>
                <a:cs typeface="Calibri" pitchFamily="34" charset="-120"/>
              </a:rPr>
              <a:t>THOTH — Smart Museum Guide</a:t>
            </a:r>
            <a:endParaRPr lang="en-US" sz="900">
              <a:solidFill>
                <a:prstClr val="black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685800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00">
                <a:solidFill>
                  <a:srgbClr val="A8862E"/>
                </a:solidFill>
                <a:ea typeface="Calibri" pitchFamily="34" charset="-122"/>
                <a:cs typeface="Calibri" pitchFamily="34" charset="-120"/>
              </a:rPr>
              <a:t>30 / 00</a:t>
            </a:r>
            <a:endParaRPr lang="en-US" sz="900">
              <a:solidFill>
                <a:prstClr val="black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57200" y="310896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000" i="1" spc="600">
                <a:solidFill>
                  <a:srgbClr val="152035"/>
                </a:solidFill>
                <a:latin typeface="Georgia"/>
              </a:rPr>
              <a:t>Gantt Chart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657600" y="3703320"/>
            <a:ext cx="1828800" cy="0"/>
          </a:xfrm>
          <a:prstGeom prst="line">
            <a:avLst/>
          </a:prstGeom>
          <a:ln w="1270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1645938"/>
      </p:ext>
    </p:extLst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6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520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Timeline — </a:t>
            </a:r>
            <a:r>
              <a:rPr lang="en-US" sz="2400" b="1" dirty="0" smtClean="0">
                <a:solidFill>
                  <a:srgbClr val="1520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II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39" y="941832"/>
            <a:ext cx="5589023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48640" y="102011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i="1" dirty="0" smtClean="0">
                <a:solidFill>
                  <a:srgbClr val="6B6557"/>
                </a:solidFill>
                <a:latin typeface="Calibri"/>
                <a:ea typeface="Calibri"/>
                <a:cs typeface="Calibri"/>
              </a:rPr>
              <a:t>Work across 12 months — Grad I delivered Feb–May, Grad II runs Jun–Jan. </a:t>
            </a:r>
            <a:endParaRPr lang="en-US" sz="1100" dirty="0">
              <a:solidFill>
                <a:srgbClr val="FF0000"/>
              </a:solidFill>
            </a:endParaRPr>
          </a:p>
        </p:txBody>
      </p:sp>
      <p:sp>
        <p:nvSpPr>
          <p:cNvPr id="54" name="Shape 52"/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ext 53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THOTH — Smart Museum Guide</a:t>
            </a:r>
            <a:endParaRPr lang="en-US" sz="900"/>
          </a:p>
        </p:txBody>
      </p:sp>
      <p:sp>
        <p:nvSpPr>
          <p:cNvPr id="56" name="Text 54"/>
          <p:cNvSpPr/>
          <p:nvPr/>
        </p:nvSpPr>
        <p:spPr>
          <a:xfrm>
            <a:off x="685800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/ 00</a:t>
            </a:r>
            <a:endParaRPr lang="en-US" sz="900"/>
          </a:p>
        </p:txBody>
      </p:sp>
      <p:sp>
        <p:nvSpPr>
          <p:cNvPr id="57" name="TextBox 56"/>
          <p:cNvSpPr txBox="1"/>
          <p:nvPr/>
        </p:nvSpPr>
        <p:spPr>
          <a:xfrm>
            <a:off x="2377440" y="1463039"/>
            <a:ext cx="52197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A8862E"/>
                </a:solidFill>
                <a:latin typeface="Calibri"/>
              </a:rPr>
              <a:t>Feb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899410" y="1463039"/>
            <a:ext cx="52197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A8862E"/>
                </a:solidFill>
                <a:latin typeface="Calibri"/>
              </a:rPr>
              <a:t>Mar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421380" y="1463039"/>
            <a:ext cx="52197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A8862E"/>
                </a:solidFill>
                <a:latin typeface="Calibri"/>
              </a:rPr>
              <a:t>Apr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943350" y="1463039"/>
            <a:ext cx="52197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A8862E"/>
                </a:solidFill>
                <a:latin typeface="Calibri"/>
              </a:rPr>
              <a:t>May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465320" y="1463039"/>
            <a:ext cx="52197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A8862E"/>
                </a:solidFill>
                <a:latin typeface="Calibri"/>
              </a:rPr>
              <a:t>Jun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987290" y="1463039"/>
            <a:ext cx="52197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 dirty="0">
                <a:solidFill>
                  <a:srgbClr val="A8862E"/>
                </a:solidFill>
                <a:latin typeface="Calibri"/>
              </a:rPr>
              <a:t>Jul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509260" y="1463039"/>
            <a:ext cx="52197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A8862E"/>
                </a:solidFill>
                <a:latin typeface="Calibri"/>
              </a:rPr>
              <a:t>Aug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031230" y="1463039"/>
            <a:ext cx="52197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A8862E"/>
                </a:solidFill>
                <a:latin typeface="Calibri"/>
              </a:rPr>
              <a:t>Sep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553199" y="1463039"/>
            <a:ext cx="52197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A8862E"/>
                </a:solidFill>
                <a:latin typeface="Calibri"/>
              </a:rPr>
              <a:t>Oct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075169" y="1463039"/>
            <a:ext cx="52197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A8862E"/>
                </a:solidFill>
                <a:latin typeface="Calibri"/>
              </a:rPr>
              <a:t>Nov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597140" y="1463039"/>
            <a:ext cx="52197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A8862E"/>
                </a:solidFill>
                <a:latin typeface="Calibri"/>
              </a:rPr>
              <a:t>Dec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119110" y="1463039"/>
            <a:ext cx="52197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A8862E"/>
                </a:solidFill>
                <a:latin typeface="Calibri"/>
              </a:rPr>
              <a:t>Jan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2377440" y="1709928"/>
            <a:ext cx="6263640" cy="0"/>
          </a:xfrm>
          <a:prstGeom prst="line">
            <a:avLst/>
          </a:prstGeom>
          <a:ln w="635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4465320" y="1600200"/>
            <a:ext cx="0" cy="2743200"/>
          </a:xfrm>
          <a:prstGeom prst="line">
            <a:avLst/>
          </a:prstGeom>
          <a:ln w="6350">
            <a:solidFill>
              <a:srgbClr val="ECE4D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2377440" y="1234439"/>
            <a:ext cx="20878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1" spc="300">
                <a:solidFill>
                  <a:srgbClr val="A8862E"/>
                </a:solidFill>
                <a:latin typeface="Calibri"/>
              </a:rPr>
              <a:t>Grad I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465320" y="1234439"/>
            <a:ext cx="417576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1" spc="300">
                <a:solidFill>
                  <a:srgbClr val="A8862E"/>
                </a:solidFill>
                <a:latin typeface="Calibri"/>
              </a:rPr>
              <a:t>Grad II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02920" y="1764792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0" i="0">
                <a:solidFill>
                  <a:srgbClr val="152035"/>
                </a:solidFill>
                <a:latin typeface="Calibri"/>
              </a:rPr>
              <a:t>Research &amp; Lit Survey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2377440" y="1920240"/>
            <a:ext cx="6263640" cy="0"/>
          </a:xfrm>
          <a:prstGeom prst="line">
            <a:avLst/>
          </a:prstGeom>
          <a:ln w="3810">
            <a:solidFill>
              <a:srgbClr val="ECE4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Rectangle 74"/>
          <p:cNvSpPr/>
          <p:nvPr/>
        </p:nvSpPr>
        <p:spPr>
          <a:xfrm>
            <a:off x="2414016" y="1819656"/>
            <a:ext cx="970787" cy="201168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502920" y="2061463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0" i="0">
                <a:solidFill>
                  <a:srgbClr val="152035"/>
                </a:solidFill>
                <a:latin typeface="Calibri"/>
              </a:rPr>
              <a:t>Web App (Grad I)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2377440" y="2216911"/>
            <a:ext cx="6263640" cy="0"/>
          </a:xfrm>
          <a:prstGeom prst="line">
            <a:avLst/>
          </a:prstGeom>
          <a:ln w="3810">
            <a:solidFill>
              <a:srgbClr val="ECE4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Rectangle 77"/>
          <p:cNvSpPr/>
          <p:nvPr/>
        </p:nvSpPr>
        <p:spPr>
          <a:xfrm>
            <a:off x="3384803" y="2116328"/>
            <a:ext cx="1043940" cy="166349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502920" y="2358136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0" i="0">
                <a:solidFill>
                  <a:srgbClr val="152035"/>
                </a:solidFill>
                <a:latin typeface="Calibri"/>
              </a:rPr>
              <a:t>AI / Voice (Grad I)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2377440" y="2513584"/>
            <a:ext cx="6263640" cy="0"/>
          </a:xfrm>
          <a:prstGeom prst="line">
            <a:avLst/>
          </a:prstGeom>
          <a:ln w="3810">
            <a:solidFill>
              <a:srgbClr val="ECE4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Rectangle 80"/>
          <p:cNvSpPr/>
          <p:nvPr/>
        </p:nvSpPr>
        <p:spPr>
          <a:xfrm>
            <a:off x="3384803" y="2413000"/>
            <a:ext cx="1043940" cy="166349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502920" y="2654808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0" i="0">
                <a:solidFill>
                  <a:srgbClr val="152035"/>
                </a:solidFill>
                <a:latin typeface="Calibri"/>
              </a:rPr>
              <a:t>Vision (Mood + Age)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2377440" y="2810256"/>
            <a:ext cx="6263640" cy="0"/>
          </a:xfrm>
          <a:prstGeom prst="line">
            <a:avLst/>
          </a:prstGeom>
          <a:ln w="3810">
            <a:solidFill>
              <a:srgbClr val="ECE4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Rectangle 83"/>
          <p:cNvSpPr/>
          <p:nvPr/>
        </p:nvSpPr>
        <p:spPr>
          <a:xfrm>
            <a:off x="3384803" y="2709672"/>
            <a:ext cx="1043940" cy="166349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502920" y="2951480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0" i="0">
                <a:solidFill>
                  <a:srgbClr val="152035"/>
                </a:solidFill>
                <a:latin typeface="Calibri"/>
              </a:rPr>
              <a:t>Sim &amp; Navigation</a:t>
            </a:r>
          </a:p>
        </p:txBody>
      </p:sp>
      <p:cxnSp>
        <p:nvCxnSpPr>
          <p:cNvPr id="86" name="Connector 85"/>
          <p:cNvCxnSpPr/>
          <p:nvPr/>
        </p:nvCxnSpPr>
        <p:spPr>
          <a:xfrm>
            <a:off x="2377440" y="3106928"/>
            <a:ext cx="6263640" cy="0"/>
          </a:xfrm>
          <a:prstGeom prst="line">
            <a:avLst/>
          </a:prstGeom>
          <a:ln w="3810">
            <a:solidFill>
              <a:srgbClr val="ECE4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Rectangle 86"/>
          <p:cNvSpPr/>
          <p:nvPr/>
        </p:nvSpPr>
        <p:spPr>
          <a:xfrm>
            <a:off x="3384803" y="3006344"/>
            <a:ext cx="1043940" cy="166349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502920" y="3248152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0" i="0">
                <a:solidFill>
                  <a:srgbClr val="152035"/>
                </a:solidFill>
                <a:latin typeface="Calibri"/>
              </a:rPr>
              <a:t>Hardware Assembly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2377440" y="3403600"/>
            <a:ext cx="6263640" cy="0"/>
          </a:xfrm>
          <a:prstGeom prst="line">
            <a:avLst/>
          </a:prstGeom>
          <a:ln w="3810">
            <a:solidFill>
              <a:srgbClr val="ECE4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ectangle 89"/>
          <p:cNvSpPr/>
          <p:nvPr/>
        </p:nvSpPr>
        <p:spPr>
          <a:xfrm flipH="1">
            <a:off x="6416839" y="3342277"/>
            <a:ext cx="1127867" cy="198191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solidFill>
                <a:schemeClr val="tx1"/>
              </a:solidFill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502920" y="3544824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0" i="0">
                <a:solidFill>
                  <a:srgbClr val="152035"/>
                </a:solidFill>
                <a:latin typeface="Calibri"/>
              </a:rPr>
              <a:t>Full Integration</a:t>
            </a:r>
          </a:p>
        </p:txBody>
      </p:sp>
      <p:cxnSp>
        <p:nvCxnSpPr>
          <p:cNvPr id="92" name="Connector 91"/>
          <p:cNvCxnSpPr/>
          <p:nvPr/>
        </p:nvCxnSpPr>
        <p:spPr>
          <a:xfrm>
            <a:off x="2377440" y="3700272"/>
            <a:ext cx="6263640" cy="0"/>
          </a:xfrm>
          <a:prstGeom prst="line">
            <a:avLst/>
          </a:prstGeom>
          <a:ln w="3810">
            <a:solidFill>
              <a:srgbClr val="ECE4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Rectangle 92"/>
          <p:cNvSpPr/>
          <p:nvPr/>
        </p:nvSpPr>
        <p:spPr>
          <a:xfrm>
            <a:off x="5023866" y="3599688"/>
            <a:ext cx="2536698" cy="201168"/>
          </a:xfrm>
          <a:prstGeom prst="rect">
            <a:avLst/>
          </a:prstGeom>
          <a:solidFill>
            <a:srgbClr val="8A6F2E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502920" y="3841495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0" i="0">
                <a:solidFill>
                  <a:srgbClr val="152035"/>
                </a:solidFill>
                <a:latin typeface="Calibri"/>
              </a:rPr>
              <a:t>Testing in Museum</a:t>
            </a:r>
          </a:p>
        </p:txBody>
      </p:sp>
      <p:cxnSp>
        <p:nvCxnSpPr>
          <p:cNvPr id="95" name="Connector 94"/>
          <p:cNvCxnSpPr/>
          <p:nvPr/>
        </p:nvCxnSpPr>
        <p:spPr>
          <a:xfrm>
            <a:off x="2377440" y="3996943"/>
            <a:ext cx="6263640" cy="0"/>
          </a:xfrm>
          <a:prstGeom prst="line">
            <a:avLst/>
          </a:prstGeom>
          <a:ln w="3810">
            <a:solidFill>
              <a:srgbClr val="ECE4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Rectangle 95"/>
          <p:cNvSpPr/>
          <p:nvPr/>
        </p:nvSpPr>
        <p:spPr>
          <a:xfrm>
            <a:off x="7633715" y="3896359"/>
            <a:ext cx="448817" cy="201168"/>
          </a:xfrm>
          <a:prstGeom prst="rect">
            <a:avLst/>
          </a:prstGeom>
          <a:solidFill>
            <a:srgbClr val="8A6F2E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502920" y="4138167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0" i="0">
                <a:solidFill>
                  <a:srgbClr val="152035"/>
                </a:solidFill>
                <a:latin typeface="Calibri"/>
              </a:rPr>
              <a:t>Final Demo</a:t>
            </a:r>
          </a:p>
        </p:txBody>
      </p:sp>
      <p:cxnSp>
        <p:nvCxnSpPr>
          <p:cNvPr id="98" name="Connector 97"/>
          <p:cNvCxnSpPr/>
          <p:nvPr/>
        </p:nvCxnSpPr>
        <p:spPr>
          <a:xfrm>
            <a:off x="2377440" y="4293615"/>
            <a:ext cx="6263640" cy="0"/>
          </a:xfrm>
          <a:prstGeom prst="line">
            <a:avLst/>
          </a:prstGeom>
          <a:ln w="3810">
            <a:solidFill>
              <a:srgbClr val="ECE4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Rectangle 98"/>
          <p:cNvSpPr/>
          <p:nvPr/>
        </p:nvSpPr>
        <p:spPr>
          <a:xfrm>
            <a:off x="8155685" y="4193031"/>
            <a:ext cx="448817" cy="201168"/>
          </a:xfrm>
          <a:prstGeom prst="rect">
            <a:avLst/>
          </a:prstGeom>
          <a:solidFill>
            <a:srgbClr val="8A6F2E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0" name="Rectangle 99"/>
          <p:cNvSpPr/>
          <p:nvPr/>
        </p:nvSpPr>
        <p:spPr>
          <a:xfrm>
            <a:off x="2377440" y="4526280"/>
            <a:ext cx="201168" cy="109728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2651760" y="4498848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52035"/>
                </a:solidFill>
                <a:latin typeface="Calibri"/>
              </a:rPr>
              <a:t>Completed (Grad I)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480560" y="4526280"/>
            <a:ext cx="201168" cy="109728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4754880" y="4498848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52035"/>
                </a:solidFill>
                <a:latin typeface="Calibri"/>
              </a:rPr>
              <a:t>In Progress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583680" y="4526280"/>
            <a:ext cx="201168" cy="109728"/>
          </a:xfrm>
          <a:prstGeom prst="rect">
            <a:avLst/>
          </a:prstGeom>
          <a:solidFill>
            <a:srgbClr val="8A6F2E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6858000" y="4498848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52035"/>
                </a:solidFill>
                <a:latin typeface="Calibri"/>
              </a:rPr>
              <a:t>Planned (Grad II)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258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000" b="1" i="1" kern="0" spc="600">
                <a:solidFill>
                  <a:srgbClr val="152035"/>
                </a:solidFill>
                <a:latin typeface="Georgia"/>
                <a:cs typeface="Times New Roman"/>
              </a:rPr>
              <a:t>THANK YOU</a:t>
            </a:r>
            <a:endParaRPr lang="en-US" sz="6000">
              <a:solidFill>
                <a:prstClr val="black"/>
              </a:solidFill>
              <a:ea typeface="Calibri"/>
              <a:cs typeface="Calibri"/>
            </a:endParaRPr>
          </a:p>
        </p:txBody>
      </p:sp>
      <p:sp>
        <p:nvSpPr>
          <p:cNvPr id="3" name="Shape 1"/>
          <p:cNvSpPr/>
          <p:nvPr/>
        </p:nvSpPr>
        <p:spPr>
          <a:xfrm>
            <a:off x="3703320" y="2743200"/>
            <a:ext cx="54864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4892040" y="2743200"/>
            <a:ext cx="54864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4361688" y="2697480"/>
            <a:ext cx="91440" cy="91440"/>
          </a:xfrm>
          <a:prstGeom prst="diamond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4526280" y="2697480"/>
            <a:ext cx="91440" cy="91440"/>
          </a:xfrm>
          <a:prstGeom prst="diamond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4690872" y="2697480"/>
            <a:ext cx="91440" cy="91440"/>
          </a:xfrm>
          <a:prstGeom prst="diamond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457200" y="2880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i="1" kern="0" spc="300">
                <a:solidFill>
                  <a:srgbClr val="1520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THOTH — Smart Museum Guide Robot</a:t>
            </a:r>
            <a:endParaRPr lang="en-US">
              <a:solidFill>
                <a:prstClr val="black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457200" y="3337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b="1" kern="0" spc="400">
                <a:solidFill>
                  <a:srgbClr val="A8862E"/>
                </a:solidFill>
                <a:ea typeface="Calibri"/>
                <a:cs typeface="Calibri"/>
              </a:rPr>
              <a:t>Questions &amp; Discussion</a:t>
            </a:r>
            <a:endParaRPr lang="en-US" sz="1300">
              <a:solidFill>
                <a:srgbClr val="000000"/>
              </a:solidFill>
              <a:ea typeface="Calibri"/>
              <a:cs typeface="Calibri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57200" y="3749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i="1">
                <a:solidFill>
                  <a:srgbClr val="6B6557"/>
                </a:solidFill>
                <a:ea typeface="Calibri" pitchFamily="34" charset="-122"/>
                <a:cs typeface="Calibri" pitchFamily="34" charset="-120"/>
              </a:rPr>
              <a:t>github.com/MohamedEldairouty/THOTH</a:t>
            </a:r>
            <a:endParaRPr lang="en-US" sz="1100">
              <a:solidFill>
                <a:prstClr val="black"/>
              </a:solidFill>
            </a:endParaRPr>
          </a:p>
        </p:txBody>
      </p:sp>
      <p:pic>
        <p:nvPicPr>
          <p:cNvPr id="17" name="Picture 16" descr="A black background with gold writing&#10;&#10;AI-generated content may be incorrect.">
            <a:extLst>
              <a:ext uri="{FF2B5EF4-FFF2-40B4-BE49-F238E27FC236}">
                <a16:creationId xmlns="" xmlns:a16="http://schemas.microsoft.com/office/drawing/2014/main" id="{1640BD63-8D99-2032-E4ED-D42EC6AA62C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9737" b="43111"/>
          <a:stretch>
            <a:fillRect/>
          </a:stretch>
        </p:blipFill>
        <p:spPr>
          <a:xfrm>
            <a:off x="-1277" y="4776900"/>
            <a:ext cx="9144000" cy="367869"/>
          </a:xfrm>
          <a:prstGeom prst="rect">
            <a:avLst/>
          </a:prstGeom>
        </p:spPr>
      </p:pic>
      <p:pic>
        <p:nvPicPr>
          <p:cNvPr id="19" name="Picture 18" descr="A black background with gold writing&#10;&#10;AI-generated content may be incorrect.">
            <a:extLst>
              <a:ext uri="{FF2B5EF4-FFF2-40B4-BE49-F238E27FC236}">
                <a16:creationId xmlns="" xmlns:a16="http://schemas.microsoft.com/office/drawing/2014/main" id="{40BA5822-495D-C43D-C4F6-41D7FEDEB7B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9737" b="43111"/>
          <a:stretch>
            <a:fillRect/>
          </a:stretch>
        </p:blipFill>
        <p:spPr>
          <a:xfrm>
            <a:off x="-18" y="-1659"/>
            <a:ext cx="9144000" cy="367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5752725"/>
      </p:ext>
    </p:extLst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614</Words>
  <Application>Microsoft Office PowerPoint</Application>
  <PresentationFormat>On-screen Show (16:9)</PresentationFormat>
  <Paragraphs>122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Georgia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THOTH — Smart Museum Guide Robot</dc:title>
  <dc:subject>PptxGenJS Presentation</dc:subject>
  <dc:creator>THOTH Team</dc:creator>
  <cp:lastModifiedBy>Microsoft account</cp:lastModifiedBy>
  <cp:revision>3</cp:revision>
  <dcterms:created xsi:type="dcterms:W3CDTF">2026-05-19T17:57:45Z</dcterms:created>
  <dcterms:modified xsi:type="dcterms:W3CDTF">2026-05-29T21:23:57Z</dcterms:modified>
</cp:coreProperties>
</file>