
<file path=[Content_Types].xml><?xml version="1.0" encoding="utf-8"?>
<Types xmlns="http://schemas.openxmlformats.org/package/2006/content-types">
  <Default Extension="jpeg" ContentType="image/jpeg"/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79" r:id="rId2"/>
    <p:sldId id="257" r:id="rId3"/>
    <p:sldId id="315" r:id="rId4"/>
    <p:sldId id="258" r:id="rId5"/>
    <p:sldId id="259" r:id="rId6"/>
    <p:sldId id="31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311" r:id="rId15"/>
    <p:sldId id="297" r:id="rId16"/>
    <p:sldId id="303" r:id="rId17"/>
    <p:sldId id="280" r:id="rId18"/>
    <p:sldId id="313" r:id="rId19"/>
    <p:sldId id="290" r:id="rId20"/>
    <p:sldId id="267" r:id="rId21"/>
    <p:sldId id="272" r:id="rId22"/>
    <p:sldId id="294" r:id="rId23"/>
    <p:sldId id="295" r:id="rId24"/>
    <p:sldId id="296" r:id="rId25"/>
    <p:sldId id="310" r:id="rId26"/>
    <p:sldId id="305" r:id="rId27"/>
    <p:sldId id="306" r:id="rId28"/>
    <p:sldId id="307" r:id="rId29"/>
    <p:sldId id="308" r:id="rId30"/>
    <p:sldId id="309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73" r:id="rId39"/>
    <p:sldId id="281" r:id="rId40"/>
    <p:sldId id="291" r:id="rId41"/>
    <p:sldId id="293" r:id="rId42"/>
    <p:sldId id="268" r:id="rId43"/>
    <p:sldId id="269" r:id="rId44"/>
    <p:sldId id="316" r:id="rId45"/>
    <p:sldId id="275" r:id="rId46"/>
    <p:sldId id="276" r:id="rId47"/>
    <p:sldId id="277" r:id="rId48"/>
    <p:sldId id="301" r:id="rId49"/>
    <p:sldId id="312" r:id="rId50"/>
    <p:sldId id="274" r:id="rId51"/>
    <p:sldId id="278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694AB5-7386-428F-89EB-4717962EBEA6}">
          <p14:sldIdLst>
            <p14:sldId id="279"/>
            <p14:sldId id="257"/>
            <p14:sldId id="315"/>
            <p14:sldId id="258"/>
            <p14:sldId id="259"/>
            <p14:sldId id="314"/>
            <p14:sldId id="260"/>
            <p14:sldId id="261"/>
            <p14:sldId id="262"/>
            <p14:sldId id="263"/>
            <p14:sldId id="264"/>
            <p14:sldId id="265"/>
            <p14:sldId id="266"/>
            <p14:sldId id="311"/>
            <p14:sldId id="297"/>
            <p14:sldId id="303"/>
            <p14:sldId id="280"/>
            <p14:sldId id="313"/>
            <p14:sldId id="290"/>
            <p14:sldId id="267"/>
            <p14:sldId id="272"/>
            <p14:sldId id="294"/>
            <p14:sldId id="295"/>
            <p14:sldId id="296"/>
            <p14:sldId id="310"/>
            <p14:sldId id="305"/>
            <p14:sldId id="306"/>
            <p14:sldId id="307"/>
            <p14:sldId id="308"/>
            <p14:sldId id="309"/>
            <p14:sldId id="283"/>
            <p14:sldId id="284"/>
            <p14:sldId id="285"/>
            <p14:sldId id="286"/>
            <p14:sldId id="287"/>
            <p14:sldId id="288"/>
            <p14:sldId id="289"/>
            <p14:sldId id="273"/>
            <p14:sldId id="281"/>
            <p14:sldId id="291"/>
            <p14:sldId id="293"/>
            <p14:sldId id="268"/>
            <p14:sldId id="269"/>
            <p14:sldId id="316"/>
            <p14:sldId id="275"/>
            <p14:sldId id="276"/>
            <p14:sldId id="277"/>
            <p14:sldId id="301"/>
            <p14:sldId id="312"/>
            <p14:sldId id="274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973A"/>
    <a:srgbClr val="152035"/>
    <a:srgbClr val="A98D43"/>
    <a:srgbClr val="F7F2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AE237-10CD-A914-4A7B-2DE5B6BF0580}" v="8" dt="2026-05-25T20:52:37.588"/>
    <p1510:client id="{17048AC6-76EA-E763-F3A5-F49A10879D81}" v="42" dt="2026-05-26T18:29:25.593"/>
    <p1510:client id="{34345F00-5625-F478-2B1C-C0A89860A5E3}" v="4" dt="2026-05-25T15:24:46.490"/>
    <p1510:client id="{44F689E6-EEA4-2BA0-895F-90EBE47B0745}" v="1" dt="2026-05-25T01:14:52.727"/>
    <p1510:client id="{505EBBA5-57F3-BC15-8BBF-B8C1C97BE4F8}" v="23" dt="2026-05-25T20:00:13.659"/>
    <p1510:client id="{573F191E-C237-B515-813A-08FE6683EC18}" v="200" dt="2026-05-25T19:00:59.103"/>
    <p1510:client id="{92C0D528-1BB9-E80B-77EC-E642EA6C5A00}" v="708" dt="2026-05-25T14:57:48.177"/>
    <p1510:client id="{9A4B6CBC-F4A1-3B0D-218B-05281FCE575B}" v="47" dt="2026-05-26T19:10:38.315"/>
    <p1510:client id="{A11F32C5-E881-33B5-680B-45B95F48D57C}" v="88" dt="2026-05-25T22:36:34.396"/>
    <p1510:client id="{A52A1388-7602-CCA7-1077-346369704D2F}" v="2" dt="2026-05-26T11:05:24.684"/>
    <p1510:client id="{B0602E4A-C8F7-E0A3-66BA-7B3B3EAF43BE}" v="1" dt="2026-05-25T10:10:52.894"/>
    <p1510:client id="{B3ED74BD-3466-FE98-B813-0F115053386B}" v="18" dt="2026-05-24T21:49:42.969"/>
    <p1510:client id="{BC9C2A99-9CC8-CA01-B88D-66F9AD8ED4F0}" v="1106" dt="2026-05-26T14:13:48.048"/>
    <p1510:client id="{C0B18E9D-B71C-C0D6-2572-FA1AB7CACDB5}" v="772" dt="2026-05-26T21:25:29.239"/>
    <p1510:client id="{C5C37318-1B6E-4E30-36A7-87BCB3C8AD25}" v="107" dt="2026-05-25T22:07:01.034"/>
    <p1510:client id="{E5B99D4B-2B32-485E-FEA5-F18CC723C25C}" v="2451" dt="2026-05-26T12:51:28.436"/>
    <p1510:client id="{E734C907-D109-B65E-21F6-48CE5DB06EC5}" v="55" dt="2026-05-25T22:09:30.568"/>
    <p1510:client id="{F010D3E3-DBF1-7D7A-376B-E5221C1A2104}" v="19" dt="2026-05-25T14:00:04.217"/>
    <p1510:client id="{F13F42A7-4AC0-5BCC-D6DA-5101F68BDD1A}" v="54" dt="2026-05-26T20:51:21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56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156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6B2BD-1E7F-12D1-42DB-5853741F0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F9B258-4005-22A0-659C-5536344E9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B57B76-8A0F-1DF0-FD04-B82F958896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38BBD-F484-C5FC-2100-0F68DFC66E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400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B6F9-1C91-0E6B-C370-246B2B13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2BD5A-142B-C70C-4DAE-13BA68D0C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8082E-06DB-B38A-8A61-0B12EAB0D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4496E-2061-038F-2EC8-C8F9F6881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643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32C2-A9C8-BB34-F794-E7194C9D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229B5-8F51-E10C-2182-25C941257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5E0C8-1E73-23AC-002B-506B60E30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our Grad I prototype we validated the mechanical platform and basic safety behavior using encoder-based odometry and ultrasonic obstacle detection. We identified the core limitation of encoder odometry — wheel slip on mecanum wheels causes drift that accumulates over distance. This is precisely why in Grad II we replace odometry with LiDAR-based AMCL localization, which is drift-free and map-referenced.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27000-8AE6-4829-7867-D5BB32F1E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696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F003F-1620-E7F2-6D99-0D9361884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2E7A4-58ED-5977-C1D7-3A2EFA2CF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59146-622F-8300-AA17-4057F5A49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our Grad I prototype we validated the mechanical platform and basic safety behavior using encoder-based odometry and ultrasonic obstacle detection. We identified the core limitation of encoder odometry — wheel slip on </a:t>
            </a:r>
            <a:r>
              <a:rPr lang="en-US" err="1"/>
              <a:t>mecanum</a:t>
            </a:r>
            <a:r>
              <a:rPr lang="en-US"/>
              <a:t> wheels causes drift that accumulates over distance. This is precisely why in Grad II we replace odometry with LiDAR-based AMCL localization, which is drift-free and map-referenced.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9616C-09DC-F942-44B7-1AB004A79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5058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museum environment presents a specific navigation constraint the robot must face an exhibit while arriving at it, without a separate rotation maneuver that wastes time and disturbs visitors. Differential drive requires the robot to stop, rotate in place, then face the target. </a:t>
            </a:r>
            <a:r>
              <a:rPr lang="en-US" err="1"/>
              <a:t>Mecanum</a:t>
            </a:r>
            <a:r>
              <a:rPr lang="en-US"/>
              <a:t> drive lets us approach laterally and arrive already oriented toward the exhibit in a single smooth motion. For a public-facing robot where visitor experience matters, that behavioral smoothness is a real requirement, not a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9575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E014C-372F-B95A-3F67-E0F6CBC6B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02829-6954-86F5-7D81-6E31C30ADE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32C5E-8E07-925D-AED6-BC952910E3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museum environment presents a specific navigation constraint the robot must face an exhibit while arriving at it, without a separate rotation maneuver that wastes time and disturbs visitors. Differential drive requires the robot to stop, rotate in place, then face the target. </a:t>
            </a:r>
            <a:r>
              <a:rPr lang="en-US" err="1"/>
              <a:t>Mecanum</a:t>
            </a:r>
            <a:r>
              <a:rPr lang="en-US"/>
              <a:t> drive lets us approach laterally and arrive already oriented toward the exhibit in a single smooth motion. For a public-facing robot where visitor experience matters, that behavioral smoothness is a real requirement, not a preference.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CDCAF-4062-852E-7E26-654DBEF4C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1363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5D9C-5C2D-EB2E-83D7-235D98E7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0D4E2-2AFB-D16C-E6E9-2A9A6CC69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6B528-6C1C-1431-C2C6-67252CFAB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877D6-EDFE-1A8C-4F1B-D2813648D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25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666B6-AC62-08D1-2219-FEA25D49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A4AB5-3E40-AC5E-6100-B8DB57BCB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DBDB8-B959-29FE-1AA0-217114F00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1F874-C051-D4CF-5D80-ACC7629417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640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F406-C8B3-9234-B4DB-6E129EE20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1C2B1-21CD-A3B1-F626-7781DB8FB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A9857-6F29-C4E2-D856-75F5FB1DB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E40D7-80C5-0FFD-BEE3-8EA32F3B8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8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5DB6B-FC92-9C17-51DB-63BFF353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1E652-A0C9-1659-D067-42CD056F0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50260-A782-E7EF-EC31-5F37C0574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BFE8B-2D31-60F3-A056-770B8C8CC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291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957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5C6D8-4FD4-4BC3-8E2B-6349C30C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F1DEF-E378-AFFA-E616-F8FF55EB6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34573-F1A6-581F-5EC7-CCE9282D0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64CA6-6BBE-4460-9152-E72841159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974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CBF4-E3E5-531F-4665-3E34A3B1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ED248-E0C8-DB5D-5C39-A60F8FA8F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13628-56A7-AC32-3B04-90E2CE815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A408-2127-0822-EC7B-642DF5CCE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668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B0826-A7E4-959E-E937-D30703C3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5BEE4-4E72-E445-1712-98CD3E54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F1E89-54D5-09E2-3DF0-E33A5C1D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E659B-83ED-D6D8-EBD1-23D123B4D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478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1687-A722-D00B-64D5-13025654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C02F3-E8AA-D0E3-5843-41B1A283E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F7890-DC04-430D-4AA0-580617ABE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C5B0-3D11-1EA2-7817-E1AF32563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150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42A3-E282-23E0-6990-C47E8DF1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77B8E-AFF9-BAA8-0977-A45BE5D74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3CC9C-2FC0-C113-83C0-52DFB022D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3C5B7-E088-8F7B-2564-7039257B1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443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FFE6-B900-D6B9-D3E9-44665F81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5720E-CF6B-1879-BF72-F7DD0F90E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66CB8-8DBB-29C8-1A7B-A36ECF65C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799F0-B508-FCC7-6469-EA9BBF1478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1121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1A446-637A-9C1C-0557-8280406C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7D406-7316-FCEA-3873-3D482A6FF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F776D-2345-0D09-351E-92B592FD8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C9BD0-D807-4CAC-F0F0-696620EEC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1541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B0FB-0783-38E8-5551-71855E34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3361A-9183-2627-69A1-1E790F3BA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23049-DCEF-7AAF-9931-2031406A3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7ED98-1962-E1DD-888C-25E7AB441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2625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55F76-14F0-E183-5382-F544EDC4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33808-903E-3B9A-6876-E5AB9D4ED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ABF0C-F01D-4C2F-A4BC-5328CF3F8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BB516-5BC6-5B87-CEBD-9B89E350F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0108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98243-15CB-2008-81D6-512E0EBE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29BDB1-11D7-C9A3-38FB-01302C1E3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7BB9C8-046D-F28F-6847-3224C88FE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690E6-D53B-FD19-9B39-0185033DF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9393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7AFD-E061-EC9C-3493-86D7607B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0775E-524E-8225-00BB-FA0669556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BC96D-31CE-1B88-1C7F-2C749E35E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975F8-DC9B-9D40-48EB-6F1577D05B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94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E2D1-B419-10FF-7442-A6CE5B16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76BF7-ECD6-D537-32F7-3562880F5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C9E21-1CEB-4C9F-C746-0BEFF55DE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our Grad I prototype we validated the mechanical platform and basic safety behavior using encoder-based odometry and ultrasonic obstacle detection. We identified the core limitation of encoder odometry — wheel slip on </a:t>
            </a:r>
            <a:r>
              <a:rPr lang="en-US" err="1"/>
              <a:t>mecanum</a:t>
            </a:r>
            <a:r>
              <a:rPr lang="en-US"/>
              <a:t> wheels causes drift that accumulates over distance. This is precisely why in Grad II we replace odometry with LiDAR-based AMCL localization, which is drift-free and map-referenced.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375C3-7EF9-4862-AEC8-7677DCBAB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4474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2336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kern="0" spc="12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</a:t>
            </a:r>
            <a:endParaRPr lang="en-US" sz="600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kern="0" spc="3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Museum Guide Robot</a:t>
            </a:r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Graduation Project I — Final Presentation</a:t>
            </a: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Computer Engineering Department · AASTMT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Supervised by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Dr.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Marwa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Elshenawy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 ·   Dr. Mohamed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Elhabrouk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Leena Gouda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Nayrouz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Ahmed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– Youssef Waleed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Khaled – Mohamed Eldairouty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kern="0" spc="40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2026 - 2027</a:t>
            </a:r>
            <a:endParaRPr lang="en-US" sz="1200">
              <a:solidFill>
                <a:prstClr val="black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580" y="365430"/>
            <a:ext cx="1213060" cy="1213060"/>
          </a:xfrm>
          <a:prstGeom prst="rect">
            <a:avLst/>
          </a:prstGeom>
        </p:spPr>
      </p:pic>
      <p:sp>
        <p:nvSpPr>
          <p:cNvPr id="24" name="Shape 1"/>
          <p:cNvSpPr/>
          <p:nvPr/>
        </p:nvSpPr>
        <p:spPr>
          <a:xfrm>
            <a:off x="370332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"/>
          <p:cNvSpPr/>
          <p:nvPr/>
        </p:nvSpPr>
        <p:spPr>
          <a:xfrm>
            <a:off x="489204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3"/>
          <p:cNvSpPr/>
          <p:nvPr/>
        </p:nvSpPr>
        <p:spPr>
          <a:xfrm>
            <a:off x="4361688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4"/>
          <p:cNvSpPr/>
          <p:nvPr/>
        </p:nvSpPr>
        <p:spPr>
          <a:xfrm>
            <a:off x="4526280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5"/>
          <p:cNvSpPr/>
          <p:nvPr/>
        </p:nvSpPr>
        <p:spPr>
          <a:xfrm>
            <a:off x="4690872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87711" y="4822344"/>
            <a:ext cx="5734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5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0" b="1" kern="0" spc="600" dirty="0">
              <a:solidFill>
                <a:srgbClr val="152035"/>
              </a:solidFill>
              <a:latin typeface="Georg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i="1" kern="0" spc="600">
                <a:solidFill>
                  <a:srgbClr val="FF0000"/>
                </a:solidFill>
                <a:latin typeface="Georgia"/>
              </a:rPr>
              <a:t>Add agenda</a:t>
            </a:r>
            <a:endParaRPr lang="en-US" sz="3000">
              <a:solidFill>
                <a:srgbClr val="FF0000"/>
              </a:solidFill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1E2AED-0257-A76F-E6EB-E01061279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7A2DB35-B0D9-FC19-196B-CD56209AD372}"/>
              </a:ext>
            </a:extLst>
          </p:cNvPr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75FA84C-8269-DF74-6FA6-1F42C4E98057}"/>
              </a:ext>
            </a:extLst>
          </p:cNvPr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5682D8D-476F-CA7F-D55B-45C3652E948A}"/>
              </a:ext>
            </a:extLst>
          </p:cNvPr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596E599-3BA6-FEA4-8902-BEA8CFCFC7B0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A7AF574-E577-E2EC-CD43-01CCFC5D9F82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F63DEF2-C3D9-34F3-C216-F0A37B38BFBF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00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65058870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01694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824728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r>
              <a:rPr lang="en-US" sz="1500" b="1">
                <a:solidFill>
                  <a:srgbClr val="152035"/>
                </a:solidFill>
                <a:latin typeface="Calibri"/>
                <a:ea typeface="Calibri"/>
                <a:cs typeface="Calibri"/>
              </a:rPr>
              <a:t>In its first month, the Grand Egyptian Museum became the third most-visited museum in the world — drawing up to 19,000 visitors a day. </a:t>
            </a:r>
            <a:r>
              <a:rPr lang="en-US" sz="15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(add intext citation , ref number )</a:t>
            </a:r>
            <a:endParaRPr lang="en-US" sz="1500">
              <a:solidFill>
                <a:srgbClr val="FF0000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152035"/>
                </a:solidFill>
                <a:latin typeface="Calibri"/>
                <a:ea typeface="Calibri"/>
                <a:cs typeface="Calibri"/>
              </a:rPr>
              <a:t>About 45% of those visitors come from outside Egypt, often without a personal guide. Audio handsets play the same one-language script to a child and a researcher, can't answer a follow-up question, and leave international visitors without usable narration. </a:t>
            </a:r>
            <a:r>
              <a:rPr lang="en-US" sz="1500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(shorten just small bullets)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500" dirty="0">
              <a:latin typeface="Calibri"/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lang="en-US" sz="1500" dirty="0">
                <a:latin typeface="Calibri"/>
                <a:ea typeface="Calibri"/>
                <a:cs typeface="Calibri"/>
              </a:rPr>
              <a:t>THOTH is an autonomous robot built for this gap: it walks visitors through the halls, talks with them in their own language, reads their </a:t>
            </a:r>
            <a:r>
              <a:rPr lang="en-US" sz="1500">
                <a:latin typeface="Calibri"/>
                <a:ea typeface="Calibri"/>
                <a:cs typeface="Calibri"/>
              </a:rPr>
              <a:t>mood to adjust how it speaks, and is accessible by design.</a:t>
            </a:r>
            <a:r>
              <a:rPr lang="en-US" sz="15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(remove add in hardware design slide for example)</a:t>
            </a:r>
          </a:p>
        </p:txBody>
      </p:sp>
      <p:sp>
        <p:nvSpPr>
          <p:cNvPr id="5" name="Shape 3"/>
          <p:cNvSpPr/>
          <p:nvPr/>
        </p:nvSpPr>
        <p:spPr>
          <a:xfrm>
            <a:off x="6446520" y="1325880"/>
            <a:ext cx="0" cy="315468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583680" y="149047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0" y="1417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583680" y="20848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0" y="20116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Conversation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6583680" y="267919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66560" y="2606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+ Age Awareness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583680" y="327355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66560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(EN · AR · FR …)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00</a:t>
            </a:r>
            <a:endParaRPr lang="en-US" sz="900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8808FEED-5DBE-84D2-B3EB-E8DDFD333DE1}"/>
              </a:ext>
            </a:extLst>
          </p:cNvPr>
          <p:cNvSpPr/>
          <p:nvPr/>
        </p:nvSpPr>
        <p:spPr>
          <a:xfrm>
            <a:off x="6567474" y="313095"/>
            <a:ext cx="2410197" cy="10133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r>
              <a:rPr lang="en-US" sz="15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Remove all from here maybe add them in a features page later before  </a:t>
            </a:r>
            <a:r>
              <a:rPr lang="en-US" sz="15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software system</a:t>
            </a:r>
            <a:r>
              <a:rPr lang="en-US" sz="15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arch </a:t>
            </a:r>
            <a:endParaRPr lang="en-US">
              <a:solidFill>
                <a:srgbClr val="FF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00</a:t>
            </a:r>
            <a:endParaRPr lang="en-US" sz="9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FE5975-18FE-8539-2BF1-BE85F9DC18A0}"/>
              </a:ext>
            </a:extLst>
          </p:cNvPr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kern="0" spc="600" dirty="0">
                <a:solidFill>
                  <a:srgbClr val="FF0000"/>
                </a:solidFill>
                <a:latin typeface="Georgia"/>
              </a:rPr>
              <a:t>Nayrouz Will add here a short vid of foreign girls from Miss </a:t>
            </a:r>
            <a:r>
              <a:rPr lang="en-US" sz="1200" i="1" kern="0" spc="600" dirty="0" err="1">
                <a:solidFill>
                  <a:srgbClr val="FF0000"/>
                </a:solidFill>
                <a:latin typeface="Georgia"/>
              </a:rPr>
              <a:t>EcoTeen</a:t>
            </a:r>
            <a:r>
              <a:rPr lang="en-US" sz="1200" i="1" kern="0" spc="600" dirty="0">
                <a:solidFill>
                  <a:srgbClr val="FF0000"/>
                </a:solidFill>
                <a:latin typeface="Georgia"/>
              </a:rPr>
              <a:t> 2026 </a:t>
            </a:r>
            <a:r>
              <a:rPr lang="en-US" sz="1200" i="1" kern="0" spc="600" dirty="0" err="1">
                <a:solidFill>
                  <a:srgbClr val="FF0000"/>
                </a:solidFill>
                <a:latin typeface="Georgia"/>
              </a:rPr>
              <a:t>Compettion</a:t>
            </a:r>
            <a:r>
              <a:rPr lang="en-US" sz="1200" i="1" kern="0" spc="600" dirty="0">
                <a:solidFill>
                  <a:srgbClr val="FF0000"/>
                </a:solidFill>
                <a:latin typeface="Georgia"/>
              </a:rPr>
              <a:t> telling the problems they faced in their last visit to the museum </a:t>
            </a:r>
          </a:p>
        </p:txBody>
      </p:sp>
    </p:spTree>
    <p:extLst>
      <p:ext uri="{BB962C8B-B14F-4D97-AF65-F5344CB8AC3E}">
        <p14:creationId xmlns:p14="http://schemas.microsoft.com/office/powerpoint/2010/main" val="244043287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Enough Human Guides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can't staff a personal guide for every visitor. At peak hours most people walk through with no narration at all.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Barriers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 run in one or two languages. International visitors get a leaflet and silence.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Script for Everyone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guides play the same monologue to a curious 9-year-old, a researcher, and a passing tourist.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3776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Gaps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who are deaf, blind, in wheelchairs, or non-native speakers are treated as edge cases, not as the default.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not minor inconveniences — they affect millions of museum visits every year.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00</a:t>
            </a:r>
            <a:endParaRPr lang="en-US" sz="900"/>
          </a:p>
        </p:txBody>
      </p:sp>
      <p:sp>
        <p:nvSpPr>
          <p:cNvPr id="24" name="Shape 1"/>
          <p:cNvSpPr/>
          <p:nvPr/>
        </p:nvSpPr>
        <p:spPr>
          <a:xfrm>
            <a:off x="555217" y="941832"/>
            <a:ext cx="301686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8107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 &amp; Objectives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 &amp; Objectives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80635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94360" y="13624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autonomous robot that navigates a real museum floor with live obstacle avoidance.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594360" y="18196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real conversation in English, Arabic, French, and more — by text or voice.</a:t>
            </a:r>
          </a:p>
        </p:txBody>
      </p:sp>
      <p:sp>
        <p:nvSpPr>
          <p:cNvPr id="10" name="Shape 8"/>
          <p:cNvSpPr/>
          <p:nvPr/>
        </p:nvSpPr>
        <p:spPr>
          <a:xfrm>
            <a:off x="594360" y="22768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visitor's mood and age in real time, and adjust tone and pace.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594360" y="27340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436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14300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production-grade touchscreen web app: exhibit browsing, map, chat, settings.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594360" y="31912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accessibility as default: captions, large fonts, audio narration, RTL support.</a:t>
            </a:r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594360" y="36484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it customizable — one system, many venues: museums, airports, hospitals, expos.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4949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033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575209"/>
            <a:ext cx="2707677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268308"/>
              </p:ext>
            </p:extLst>
          </p:nvPr>
        </p:nvGraphicFramePr>
        <p:xfrm>
          <a:off x="452886" y="754810"/>
          <a:ext cx="8406873" cy="3439632"/>
        </p:xfrm>
        <a:graphic>
          <a:graphicData uri="http://schemas.openxmlformats.org/drawingml/2006/table">
            <a:tbl>
              <a:tblPr/>
              <a:tblGrid>
                <a:gridCol w="2101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7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43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 dirty="0">
                          <a:solidFill>
                            <a:srgbClr val="F7F2E7"/>
                          </a:solidFill>
                        </a:rPr>
                        <a:t>Authors &amp; Year </a:t>
                      </a:r>
                      <a:r>
                        <a:rPr lang="en-US" sz="1150" b="0" i="0" u="none" strike="noStrike" noProof="0" dirty="0">
                          <a:solidFill>
                            <a:srgbClr val="FF0000"/>
                          </a:solidFill>
                        </a:rPr>
                        <a:t>(sort by </a:t>
                      </a:r>
                      <a:r>
                        <a:rPr lang="en-US" sz="1150" b="0" i="0" u="none" strike="noStrike" noProof="0" dirty="0" err="1">
                          <a:solidFill>
                            <a:srgbClr val="FF0000"/>
                          </a:solidFill>
                        </a:rPr>
                        <a:t>latest,add</a:t>
                      </a:r>
                      <a:r>
                        <a:rPr lang="en-US" sz="1150" b="0" i="0" u="none" strike="noStrike" noProof="0" dirty="0">
                          <a:solidFill>
                            <a:srgbClr val="FF0000"/>
                          </a:solidFill>
                        </a:rPr>
                        <a:t> ref also)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Key Finding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Relation to THOTH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dirty="0" err="1">
                          <a:solidFill>
                            <a:schemeClr val="tx1"/>
                          </a:solidFill>
                        </a:rPr>
                        <a:t>Velentza</a:t>
                      </a:r>
                      <a:r>
                        <a:rPr lang="en-US" sz="1150" b="0" i="0" u="none" strike="noStrike" noProof="0" dirty="0">
                          <a:solidFill>
                            <a:schemeClr val="tx1"/>
                          </a:solidFill>
                        </a:rPr>
                        <a:t> et al., 2020</a:t>
                      </a:r>
                      <a:endParaRPr lang="en-US" dirty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Robots outperform audio guides in knowledge retention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Justifies physical robot over screen/audio solution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dirty="0" err="1">
                          <a:solidFill>
                            <a:schemeClr val="tx1"/>
                          </a:solidFill>
                        </a:rPr>
                        <a:t>Iio</a:t>
                      </a:r>
                      <a:r>
                        <a:rPr lang="en-US" sz="1150" b="0" i="0" u="none" strike="noStrike" noProof="0" dirty="0">
                          <a:solidFill>
                            <a:schemeClr val="tx1"/>
                          </a:solidFill>
                        </a:rPr>
                        <a:t> et al., 2020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Proactive museum robot — 94.74% visitor satisfaction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Validates THOTH's proactive navigation model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0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Rosa et al., 2024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Full ROS museum robot deployed in 2 real venues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Proves full system architecture is deployable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Grady et al., 2024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ROS2 + Nav2 + LLM museum robot in live museum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Validates THOTH's exact tech stack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0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Garello et al., 2025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LLM + SLAM museum robot tested with 34 visitors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dirty="0">
                          <a:solidFill>
                            <a:schemeClr val="tx1"/>
                          </a:solidFill>
                        </a:rPr>
                        <a:t>Current state-of-the-art — THOTH builds on this</a:t>
                      </a:r>
                      <a:endParaRPr lang="en-US" dirty="0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371110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Saleem et al., 2025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dirty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Mecanum</a:t>
                      </a:r>
                      <a:r>
                        <a:rPr lang="en-US" sz="1150" b="0" i="0" u="none" strike="noStrike" noProof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+ LiDAR + ROS museum robot</a:t>
                      </a:r>
                      <a:endParaRPr lang="en-US" dirty="0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Validates THOTH's hardware choices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106751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Vasic et al., 2024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LLM-personalized museum tour guide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Validates LLM personalization approach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81466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9422" y="4093665"/>
            <a:ext cx="8046720" cy="59436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17784" y="4093664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i="1" dirty="0">
                <a:solidFill>
                  <a:srgbClr val="A8862E"/>
                </a:solidFill>
                <a:latin typeface="Georgia"/>
                <a:ea typeface="Georgia" pitchFamily="34" charset="-122"/>
                <a:cs typeface="Georgia" pitchFamily="34" charset="-120"/>
              </a:rPr>
              <a:t>No existing system combines autonomous navigation, conversational LLM, real-time mood / age recognition, and </a:t>
            </a:r>
            <a:r>
              <a:rPr lang="en-US" sz="1150" i="1">
                <a:solidFill>
                  <a:srgbClr val="A8862E"/>
                </a:solidFill>
                <a:latin typeface="Georgia"/>
                <a:ea typeface="Georgia" pitchFamily="34" charset="-122"/>
                <a:cs typeface="Georgia" pitchFamily="34" charset="-120"/>
              </a:rPr>
              <a:t>full multilingual support. THOTH does.</a:t>
            </a:r>
            <a:r>
              <a:rPr lang="en-US" sz="1150" i="1">
                <a:solidFill>
                  <a:srgbClr val="FF0000"/>
                </a:solidFill>
                <a:latin typeface="Georgia"/>
                <a:ea typeface="Georgia" pitchFamily="34" charset="-122"/>
                <a:cs typeface="Georgia" pitchFamily="34" charset="-120"/>
              </a:rPr>
              <a:t> (move this to be a new slide of the Research gap and shows thot solutions  and replace relation to thot column </a:t>
            </a:r>
            <a:r>
              <a:rPr lang="en-US" sz="1150" i="1" dirty="0">
                <a:solidFill>
                  <a:srgbClr val="FF0000"/>
                </a:solidFill>
                <a:latin typeface="Georgia"/>
                <a:ea typeface="Georgia" pitchFamily="34" charset="-122"/>
                <a:cs typeface="Georgia" pitchFamily="34" charset="-120"/>
              </a:rPr>
              <a:t>with limitations)</a:t>
            </a:r>
            <a:endParaRPr lang="en-US" sz="1150" dirty="0">
              <a:solidFill>
                <a:srgbClr val="FF0000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4855205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1" y="490843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6858000" y="490843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54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Model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Hardware design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154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355080" y="2788920"/>
            <a:ext cx="0" cy="4572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55080" y="3886200"/>
            <a:ext cx="0" cy="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00</a:t>
            </a:r>
            <a:endParaRPr lang="en-US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F15B9-55ED-38F1-B0D6-5DFD060D6D2C}"/>
              </a:ext>
            </a:extLst>
          </p:cNvPr>
          <p:cNvSpPr txBox="1"/>
          <p:nvPr/>
        </p:nvSpPr>
        <p:spPr>
          <a:xfrm>
            <a:off x="543707" y="1476082"/>
            <a:ext cx="399294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Inspired by Temi a home assistant robot THOTH is composed of multiple hardware modules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8" name="Picture 7" descr="A black device with a screen&#10;&#10;AI-generated content may be incorrect.">
            <a:extLst>
              <a:ext uri="{FF2B5EF4-FFF2-40B4-BE49-F238E27FC236}">
                <a16:creationId xmlns:a16="http://schemas.microsoft.com/office/drawing/2014/main" id="{EFB1D0DB-53FC-A250-2B44-FA1C93850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380" y="723417"/>
            <a:ext cx="4485190" cy="334942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FEBD6-D944-6362-062A-8C1FF666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796422-1CE7-2DE3-C91B-9BFBED99FB2A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Hardware design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8F080D-360D-5500-5E97-70EF9790772D}"/>
              </a:ext>
            </a:extLst>
          </p:cNvPr>
          <p:cNvSpPr/>
          <p:nvPr/>
        </p:nvSpPr>
        <p:spPr>
          <a:xfrm>
            <a:off x="548640" y="941832"/>
            <a:ext cx="3154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F8EB0D6-4258-5EEC-7BFE-47A654E0E26C}"/>
              </a:ext>
            </a:extLst>
          </p:cNvPr>
          <p:cNvSpPr/>
          <p:nvPr/>
        </p:nvSpPr>
        <p:spPr>
          <a:xfrm>
            <a:off x="6355080" y="2788920"/>
            <a:ext cx="0" cy="4572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131A5C7-B44C-BAE4-BED0-1C5860333134}"/>
              </a:ext>
            </a:extLst>
          </p:cNvPr>
          <p:cNvSpPr/>
          <p:nvPr/>
        </p:nvSpPr>
        <p:spPr>
          <a:xfrm>
            <a:off x="6355080" y="3886200"/>
            <a:ext cx="0" cy="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33766D3-59DE-4AFE-52B1-D0EE27C68A09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0EA013D-9DC2-D9EC-6779-B529F0849263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8110442-BEDF-B45C-1263-D727FEE36E41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00</a:t>
            </a:r>
            <a:endParaRPr lang="en-US" sz="9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71A4F6-031B-5201-22FA-C51D8237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9817" y="-685801"/>
            <a:ext cx="4433083" cy="577654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5B388C-76A4-F141-7DBC-5FC8BF0EAFD1}"/>
              </a:ext>
            </a:extLst>
          </p:cNvPr>
          <p:cNvSpPr/>
          <p:nvPr/>
        </p:nvSpPr>
        <p:spPr>
          <a:xfrm>
            <a:off x="6378818" y="2644283"/>
            <a:ext cx="1061673" cy="290148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Mini PC</a:t>
            </a: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161EB3-4056-A4B6-F679-B4ECD8FF79C9}"/>
              </a:ext>
            </a:extLst>
          </p:cNvPr>
          <p:cNvSpPr/>
          <p:nvPr/>
        </p:nvSpPr>
        <p:spPr>
          <a:xfrm>
            <a:off x="6502523" y="3610353"/>
            <a:ext cx="808186" cy="281173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Lidar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280408-3500-759B-A4AF-16F6A1CE0A1F}"/>
              </a:ext>
            </a:extLst>
          </p:cNvPr>
          <p:cNvSpPr/>
          <p:nvPr/>
        </p:nvSpPr>
        <p:spPr>
          <a:xfrm>
            <a:off x="6085324" y="3992701"/>
            <a:ext cx="1641178" cy="488949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Movement Module</a:t>
            </a:r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A9D1B9F-FE04-3E26-029E-1993D9695023}"/>
              </a:ext>
            </a:extLst>
          </p:cNvPr>
          <p:cNvSpPr/>
          <p:nvPr/>
        </p:nvSpPr>
        <p:spPr>
          <a:xfrm>
            <a:off x="6439801" y="413576"/>
            <a:ext cx="929187" cy="567850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Touch Screen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F5E19A-61AE-797A-5B9B-237600C46352}"/>
              </a:ext>
            </a:extLst>
          </p:cNvPr>
          <p:cNvCxnSpPr/>
          <p:nvPr/>
        </p:nvCxnSpPr>
        <p:spPr>
          <a:xfrm flipH="1">
            <a:off x="5747189" y="210421"/>
            <a:ext cx="1141527" cy="161013"/>
          </a:xfrm>
          <a:prstGeom prst="straightConnector1">
            <a:avLst/>
          </a:prstGeom>
          <a:ln>
            <a:solidFill>
              <a:srgbClr val="1520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DCBEC1-7ED1-5618-C195-4F6D0CA40CA0}"/>
              </a:ext>
            </a:extLst>
          </p:cNvPr>
          <p:cNvSpPr/>
          <p:nvPr/>
        </p:nvSpPr>
        <p:spPr>
          <a:xfrm>
            <a:off x="3836033" y="190637"/>
            <a:ext cx="1903236" cy="506115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USB Camera + Mic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E849B0-FBA5-7E26-ED8E-CA8A4EF5DE14}"/>
              </a:ext>
            </a:extLst>
          </p:cNvPr>
          <p:cNvSpPr txBox="1"/>
          <p:nvPr/>
        </p:nvSpPr>
        <p:spPr>
          <a:xfrm>
            <a:off x="397046" y="1240772"/>
            <a:ext cx="479434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Movement Module: consisting of Arduino , Motor drivers , DC Motors + wheels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Interactivity module: Touch Screen + Mic + U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ALL modules and components connected to the Central </a:t>
            </a:r>
            <a:r>
              <a:rPr lang="en-US" err="1">
                <a:ea typeface="Calibri" panose="020F0502020204030204"/>
                <a:cs typeface="Calibri" panose="020F0502020204030204"/>
              </a:rPr>
              <a:t>mini PC</a:t>
            </a:r>
            <a:r>
              <a:rPr lang="en-US">
                <a:ea typeface="Calibri" panose="020F0502020204030204"/>
                <a:cs typeface="Calibri" panose="020F0502020204030204"/>
              </a:rPr>
              <a:t> ( probably a laptop used for Project II prototype) that implement the ROS2 system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 Dimensions chosen to be 130cm  height and 45cm width to be in a comfortable eye level display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68414D-F165-526B-CBD4-80A606B215AE}"/>
              </a:ext>
            </a:extLst>
          </p:cNvPr>
          <p:cNvCxnSpPr/>
          <p:nvPr/>
        </p:nvCxnSpPr>
        <p:spPr>
          <a:xfrm>
            <a:off x="8054642" y="204558"/>
            <a:ext cx="65483" cy="4315830"/>
          </a:xfrm>
          <a:prstGeom prst="straightConnector1">
            <a:avLst/>
          </a:prstGeom>
          <a:ln>
            <a:solidFill>
              <a:srgbClr val="15203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B72E65-77FD-3510-484D-676FEFFAD41A}"/>
              </a:ext>
            </a:extLst>
          </p:cNvPr>
          <p:cNvSpPr txBox="1"/>
          <p:nvPr/>
        </p:nvSpPr>
        <p:spPr>
          <a:xfrm>
            <a:off x="8085963" y="2203560"/>
            <a:ext cx="17563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130 cm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03D0CD-F402-AA68-F689-2BBD4AAC4B06}"/>
              </a:ext>
            </a:extLst>
          </p:cNvPr>
          <p:cNvCxnSpPr/>
          <p:nvPr/>
        </p:nvCxnSpPr>
        <p:spPr>
          <a:xfrm>
            <a:off x="5916003" y="4635526"/>
            <a:ext cx="1975310" cy="19852"/>
          </a:xfrm>
          <a:prstGeom prst="straightConnector1">
            <a:avLst/>
          </a:prstGeom>
          <a:ln>
            <a:solidFill>
              <a:srgbClr val="15203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5B92AD-CE66-E89D-6AA7-70A2FC74D630}"/>
              </a:ext>
            </a:extLst>
          </p:cNvPr>
          <p:cNvSpPr txBox="1"/>
          <p:nvPr/>
        </p:nvSpPr>
        <p:spPr>
          <a:xfrm>
            <a:off x="6501631" y="4720936"/>
            <a:ext cx="8635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45cm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72885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D5031-4658-0559-500D-E3FDFF71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2ECDFB-6EF6-8A40-A47A-A26D59045E30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92E7F3-CC5F-4FB5-DA4D-5861769575D6}"/>
              </a:ext>
            </a:extLst>
          </p:cNvPr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DDD961-F745-68C2-CA32-C419E786246A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· Leena Gouda - Campus Delivery Robot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6FBE90-2897-5F98-35DB-77FCBD704359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564E515-FA02-0138-6A04-38EF6406B548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943248-73CA-A5B9-A42D-7FBBE5E2BEAB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BEB14E-4150-9C2A-BE90-57BEC18FF9A0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CCD0A-21C8-7B74-A53A-B30E2ED51BB2}"/>
              </a:ext>
            </a:extLst>
          </p:cNvPr>
          <p:cNvSpPr txBox="1"/>
          <p:nvPr/>
        </p:nvSpPr>
        <p:spPr>
          <a:xfrm>
            <a:off x="432509" y="1302355"/>
            <a:ext cx="64195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The PURPOSE of this prototype was:</a:t>
            </a:r>
            <a:endParaRPr lang="en-US"/>
          </a:p>
          <a:p>
            <a:pPr marL="742950" lvl="1" indent="-285750"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To validate the mechanical platform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To prove the </a:t>
            </a:r>
            <a:r>
              <a:rPr lang="en-US" err="1">
                <a:ea typeface="+mn-lt"/>
                <a:cs typeface="+mn-lt"/>
              </a:rPr>
              <a:t>mecanum</a:t>
            </a:r>
            <a:r>
              <a:rPr lang="en-US">
                <a:ea typeface="+mn-lt"/>
                <a:cs typeface="+mn-lt"/>
              </a:rPr>
              <a:t> wheel drive system works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Wingdings"/>
              <a:buChar char="ü"/>
            </a:pPr>
            <a:r>
              <a:rPr lang="en-US">
                <a:ea typeface="+mn-lt"/>
                <a:cs typeface="+mn-lt"/>
              </a:rPr>
              <a:t>To test basic obstacle detection using ultrasonics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9C8C2-4111-D844-F4B9-34665F938CC8}"/>
              </a:ext>
            </a:extLst>
          </p:cNvPr>
          <p:cNvSpPr txBox="1"/>
          <p:nvPr/>
        </p:nvSpPr>
        <p:spPr>
          <a:xfrm>
            <a:off x="415916" y="2544536"/>
            <a:ext cx="858790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will CHANGE in Grad II: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Arduino Mega stays but becomes low-level motor controller only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Mini PC added for ROS2 high-level computation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Arduino and Mini PC communicate over serial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LiDAR added for navigation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RGB-D camera added for vision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Ultrasonic sensors stay as a safety layer (short-range collision detection)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37438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4FFA6-A610-80A0-C6F7-F7FD359A2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ED526-3425-58B4-4322-D6E3344AEEFF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  <a:ea typeface="Georgia" pitchFamily="34" charset="-122"/>
                <a:cs typeface="Georgia" pitchFamily="34" charset="-120"/>
              </a:rPr>
              <a:t>Hardware Prototype (</a:t>
            </a:r>
            <a:r>
              <a:rPr lang="en-US" sz="2400">
                <a:solidFill>
                  <a:srgbClr val="152035"/>
                </a:solidFill>
                <a:ea typeface="+mn-lt"/>
                <a:cs typeface="+mn-lt"/>
              </a:rPr>
              <a:t>What we built)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202E7B-3C40-49E8-0F10-96C90B398009}"/>
              </a:ext>
            </a:extLst>
          </p:cNvPr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EE3CE2-9A3F-5073-5904-868C3602073C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· Leena Gouda - Campus Delivery Robot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FC8A75-9A43-18BD-218A-97B52ECE7ACE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59F42E-7CDC-2B08-944C-55E233A3D6CD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220FFF-4021-E6CA-611C-5A12EACB2FBC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F19457-490A-08A8-7C35-9E16461161DE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D52B44EA-7D27-78A1-2FD4-16898E42393C}"/>
              </a:ext>
            </a:extLst>
          </p:cNvPr>
          <p:cNvGraphicFramePr>
            <a:graphicFrameLocks noGrp="1"/>
          </p:cNvGraphicFramePr>
          <p:nvPr/>
        </p:nvGraphicFramePr>
        <p:xfrm>
          <a:off x="656470" y="1832682"/>
          <a:ext cx="8002069" cy="2552062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  <a:latin typeface="Calibri"/>
                          <a:ea typeface="Calibri"/>
                          <a:cs typeface="Calibri"/>
                        </a:rPr>
                        <a:t>Specification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Chassis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35 × 35 cm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Drive System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4 </a:t>
                      </a: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Mecanum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Wheels + 4 DC Motors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Motor Control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2 H-Bridges + Arduino Mega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Obstacle Detection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4 Ultrasonic Sensors (one per side)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Navigation Input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Manual target trigger (button press)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Locomotion Feedback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Encoder-based odometry 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2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640192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/>
                <a:cs typeface="Calibri"/>
              </a:rPr>
              <a:t> Habiba Ghoneim · Leena Gouda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C6E2466-3B8B-AA93-624F-9448C80F8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70" y="1529694"/>
            <a:ext cx="5416827" cy="2814638"/>
          </a:xfrm>
          <a:prstGeom prst="rect">
            <a:avLst/>
          </a:prstGeom>
        </p:spPr>
      </p:pic>
      <p:pic>
        <p:nvPicPr>
          <p:cNvPr id="12" name="Picture 11" descr="A black machine with wheels&#10;&#10;AI-generated content may be incorrect.">
            <a:extLst>
              <a:ext uri="{FF2B5EF4-FFF2-40B4-BE49-F238E27FC236}">
                <a16:creationId xmlns:a16="http://schemas.microsoft.com/office/drawing/2014/main" id="{993740E6-261A-096D-B329-2D9AC1665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4441" y="1941702"/>
            <a:ext cx="2329133" cy="230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9476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2572EB-016D-7F26-47B4-D5ED52F2E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9B1393-AE1D-2750-4746-4F424E61BC97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1C56E8-F8AC-0E7A-F4B3-15A117CCFEAA}"/>
              </a:ext>
            </a:extLst>
          </p:cNvPr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738DE9-A5FE-FF82-9D9F-EAE723077580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/>
                <a:cs typeface="Calibri"/>
              </a:rPr>
              <a:t>Habiba</a:t>
            </a:r>
            <a:r>
              <a:rPr lang="en-US" sz="1100" i="1">
                <a:solidFill>
                  <a:srgbClr val="6B6557"/>
                </a:solidFill>
                <a:ea typeface="Calibri"/>
                <a:cs typeface="Calibri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/>
                <a:cs typeface="Calibri"/>
              </a:rPr>
              <a:t>Ghoneim</a:t>
            </a:r>
            <a:r>
              <a:rPr lang="en-US" sz="1100" i="1">
                <a:solidFill>
                  <a:srgbClr val="6B6557"/>
                </a:solidFill>
                <a:ea typeface="Calibri"/>
                <a:cs typeface="Calibri"/>
              </a:rPr>
              <a:t> · Leena Gouda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9B2CAE-5197-C641-7A75-671C6187A097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F167F5C-0CDB-0F48-54F4-F34417FB413F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E89CE56-A942-F5B9-B108-75DBC646708F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4400CB0-0D38-1093-30DA-980812D9A315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pic>
        <p:nvPicPr>
          <p:cNvPr id="10" name="WhatsApp Video 2026-05-26 at 9.51.48 PM">
            <a:hlinkClick r:id="" action="ppaction://media"/>
            <a:extLst>
              <a:ext uri="{FF2B5EF4-FFF2-40B4-BE49-F238E27FC236}">
                <a16:creationId xmlns:a16="http://schemas.microsoft.com/office/drawing/2014/main" id="{8EDDB9AE-09E8-DB9F-1538-C40FDBA301C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769076" y="1418967"/>
            <a:ext cx="5605849" cy="314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51398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31470" y="221326"/>
            <a:ext cx="6286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Software System Architecture</a:t>
            </a:r>
            <a:endParaRPr lang="en-US" sz="2400">
              <a:solidFill>
                <a:srgbClr val="000000"/>
              </a:solidFill>
              <a:latin typeface="Georg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2900" y="587866"/>
            <a:ext cx="57150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765" b="0" i="1">
                <a:solidFill>
                  <a:srgbClr val="6B6759"/>
                </a:solidFill>
                <a:latin typeface="Calibri"/>
              </a:rPr>
              <a:t>Runtime communication: sensing  →  Nav2 navigation  →  web-app docent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77990" y="251460"/>
            <a:ext cx="217170" cy="11430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 w="5715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29450" y="228600"/>
            <a:ext cx="9144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ROS node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77990" y="434340"/>
            <a:ext cx="217170" cy="114300"/>
          </a:xfrm>
          <a:prstGeom prst="rect">
            <a:avLst/>
          </a:prstGeom>
          <a:solidFill>
            <a:srgbClr val="EDE4D0"/>
          </a:solidFill>
          <a:ln w="8572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29450" y="411480"/>
            <a:ext cx="9144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Process group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89420" y="674370"/>
            <a:ext cx="205740" cy="0"/>
          </a:xfrm>
          <a:prstGeom prst="line">
            <a:avLst/>
          </a:prstGeom>
          <a:ln w="14288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029450" y="617220"/>
            <a:ext cx="12573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Topic (pub → sub)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05" y="826303"/>
            <a:ext cx="1028700" cy="32004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>
            <a:solidFill>
              <a:srgbClr val="A98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152035"/>
                </a:solidFill>
                <a:latin typeface="Georgia"/>
              </a:rPr>
              <a:t>LiDAR Driver</a:t>
            </a:r>
            <a:endParaRPr lang="en-US" sz="850" b="1" i="0">
              <a:solidFill>
                <a:srgbClr val="152035"/>
              </a:solidFill>
              <a:latin typeface="Georgi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14900" y="954405"/>
            <a:ext cx="1028700" cy="32004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>
            <a:solidFill>
              <a:srgbClr val="A98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850" b="1" i="0">
                <a:solidFill>
                  <a:srgbClr val="152035"/>
                </a:solidFill>
                <a:latin typeface="Georgia"/>
              </a:rPr>
              <a:t>Camera</a:t>
            </a:r>
            <a:endParaRPr lang="en-US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4805" y="1485900"/>
            <a:ext cx="2457450" cy="1828800"/>
          </a:xfrm>
          <a:prstGeom prst="roundRect">
            <a:avLst>
              <a:gd name="adj" fmla="val 5000"/>
            </a:avLst>
          </a:prstGeom>
          <a:solidFill>
            <a:srgbClr val="EDE4D0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105" y="1543050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990" b="1" i="0">
                <a:solidFill>
                  <a:srgbClr val="A8862E"/>
                </a:solidFill>
                <a:latin typeface="Georgia"/>
              </a:rPr>
              <a:t>Nav2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255" y="182880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AMCL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09255" y="182880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Map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255" y="245745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1" i="0">
                <a:solidFill>
                  <a:srgbClr val="152035"/>
                </a:solidFill>
                <a:latin typeface="Georgia"/>
              </a:rPr>
              <a:t>Planner +</a:t>
            </a:r>
          </a:p>
          <a:p>
            <a:pPr algn="ctr"/>
            <a:r>
              <a:rPr sz="720" b="1" i="0">
                <a:solidFill>
                  <a:srgbClr val="152035"/>
                </a:solidFill>
                <a:latin typeface="Georgia"/>
              </a:rPr>
              <a:t>Controller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09255" y="245745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65" b="1" i="0">
                <a:solidFill>
                  <a:srgbClr val="152035"/>
                </a:solidFill>
                <a:latin typeface="Georgia"/>
              </a:rPr>
              <a:t>BT Navigator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255" y="3714750"/>
            <a:ext cx="914400" cy="308610"/>
          </a:xfrm>
          <a:prstGeom prst="roundRect">
            <a:avLst>
              <a:gd name="adj" fmla="val 50000"/>
            </a:avLst>
          </a:prstGeom>
          <a:solidFill>
            <a:srgbClr val="152035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750" b="1" i="0">
                <a:solidFill>
                  <a:srgbClr val="F7F2E7"/>
                </a:solidFill>
                <a:latin typeface="Georgia"/>
              </a:rPr>
              <a:t>Serial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955" y="4343400"/>
            <a:ext cx="1143000" cy="308610"/>
          </a:xfrm>
          <a:prstGeom prst="roundRect">
            <a:avLst>
              <a:gd name="adj" fmla="val 22000"/>
            </a:avLst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1" i="0">
                <a:solidFill>
                  <a:srgbClr val="F7F2E7"/>
                </a:solidFill>
                <a:latin typeface="Georgia"/>
              </a:rPr>
              <a:t>Arduino + Motors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7675" y="1674495"/>
            <a:ext cx="857250" cy="308610"/>
          </a:xfrm>
          <a:prstGeom prst="roundRect">
            <a:avLst>
              <a:gd name="adj" fmla="val 50000"/>
            </a:avLst>
          </a:prstGeom>
          <a:solidFill>
            <a:srgbClr val="152035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 i="0">
                <a:solidFill>
                  <a:schemeClr val="bg1"/>
                </a:solidFill>
                <a:latin typeface="Georgia"/>
              </a:rPr>
              <a:t>Age Node</a:t>
            </a:r>
            <a:endParaRPr lang="en-US" sz="750" b="1" i="0">
              <a:solidFill>
                <a:schemeClr val="bg1"/>
              </a:solidFill>
              <a:latin typeface="Georgia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43575" y="1674495"/>
            <a:ext cx="857250" cy="308610"/>
          </a:xfrm>
          <a:prstGeom prst="roundRect">
            <a:avLst>
              <a:gd name="adj" fmla="val 50000"/>
            </a:avLst>
          </a:prstGeom>
          <a:solidFill>
            <a:srgbClr val="152035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 i="0">
                <a:solidFill>
                  <a:schemeClr val="bg1"/>
                </a:solidFill>
                <a:latin typeface="Georgia"/>
              </a:rPr>
              <a:t>Mood Node</a:t>
            </a:r>
            <a:endParaRPr lang="en-US" sz="750" b="1" i="0">
              <a:solidFill>
                <a:schemeClr val="bg1"/>
              </a:solidFill>
              <a:latin typeface="Georgia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71900" y="2400300"/>
            <a:ext cx="4572000" cy="2286000"/>
          </a:xfrm>
          <a:prstGeom prst="roundRect">
            <a:avLst>
              <a:gd name="adj" fmla="val 4500"/>
            </a:avLst>
          </a:prstGeom>
          <a:solidFill>
            <a:srgbClr val="EDE4D0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97630" y="2457450"/>
            <a:ext cx="18288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990" b="1" i="0">
                <a:solidFill>
                  <a:srgbClr val="A8862E"/>
                </a:solidFill>
                <a:latin typeface="Georgia"/>
              </a:rPr>
              <a:t>Docent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4775" y="2743200"/>
            <a:ext cx="1600200" cy="445770"/>
          </a:xfrm>
          <a:prstGeom prst="roundRect">
            <a:avLst>
              <a:gd name="adj" fmla="val 13000"/>
            </a:avLst>
          </a:prstGeom>
          <a:solidFill>
            <a:srgbClr val="152035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5" b="1" i="0">
                <a:solidFill>
                  <a:srgbClr val="F7F2E7"/>
                </a:solidFill>
                <a:latin typeface="Georgia"/>
              </a:rPr>
              <a:t>Web App + LLM</a:t>
            </a:r>
          </a:p>
          <a:p>
            <a:pPr algn="ctr"/>
            <a:r>
              <a:rPr sz="585" b="0" i="0">
                <a:solidFill>
                  <a:srgbClr val="C9A84C"/>
                </a:solidFill>
                <a:latin typeface="Calibri"/>
              </a:rPr>
              <a:t>FastAPI · React · Gemini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86550" y="2743200"/>
            <a:ext cx="1485900" cy="445770"/>
          </a:xfrm>
          <a:prstGeom prst="roundRect">
            <a:avLst>
              <a:gd name="adj" fmla="val 13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Tour Coordinator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4775" y="3714750"/>
            <a:ext cx="1714500" cy="514350"/>
          </a:xfrm>
          <a:prstGeom prst="roundRect">
            <a:avLst>
              <a:gd name="adj" fmla="val 11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Prompt Builder</a:t>
            </a:r>
          </a:p>
          <a:p>
            <a:pPr algn="ctr"/>
            <a:r>
              <a:rPr sz="630" b="0" i="1">
                <a:solidFill>
                  <a:srgbClr val="A8862E"/>
                </a:solidFill>
                <a:latin typeface="Calibri"/>
              </a:rPr>
              <a:t>"age + mood + exhibit"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86550" y="3714750"/>
            <a:ext cx="1485900" cy="514350"/>
          </a:xfrm>
          <a:prstGeom prst="roundRect">
            <a:avLst>
              <a:gd name="adj" fmla="val 11000"/>
            </a:avLst>
          </a:prstGeom>
          <a:solidFill>
            <a:srgbClr val="152035"/>
          </a:solidFill>
          <a:ln w="5715">
            <a:solidFill>
              <a:srgbClr val="A98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 i="0">
                <a:solidFill>
                  <a:schemeClr val="bg1"/>
                </a:solidFill>
                <a:latin typeface="Georgia"/>
              </a:rPr>
              <a:t>Database 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sz="750" b="1" i="0">
                <a:solidFill>
                  <a:schemeClr val="bg1"/>
                </a:solidFill>
                <a:latin typeface="Georgia"/>
              </a:rPr>
              <a:t>Exhibit Loader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14975" y="2966085"/>
            <a:ext cx="1171575" cy="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640705" y="3971925"/>
            <a:ext cx="1045845" cy="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772025" y="3200400"/>
            <a:ext cx="0" cy="51435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343391" y="1149379"/>
            <a:ext cx="6645" cy="336521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6884" y="1249458"/>
            <a:ext cx="34290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/scan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23455" y="3314700"/>
            <a:ext cx="0" cy="40005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03465" y="3446145"/>
            <a:ext cx="49149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/cmd_vel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23455" y="4023360"/>
            <a:ext cx="0" cy="32004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03465" y="4114800"/>
            <a:ext cx="320040" cy="12573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30" b="0" i="1">
                <a:solidFill>
                  <a:srgbClr val="6B6759"/>
                </a:solidFill>
                <a:latin typeface="Georgia"/>
              </a:rPr>
              <a:t>serial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29250" y="1274445"/>
            <a:ext cx="0" cy="222885"/>
          </a:xfrm>
          <a:prstGeom prst="line">
            <a:avLst/>
          </a:prstGeom>
          <a:ln w="14288">
            <a:solidFill>
              <a:srgbClr val="1520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686300" y="1497330"/>
            <a:ext cx="1485900" cy="0"/>
          </a:xfrm>
          <a:prstGeom prst="line">
            <a:avLst/>
          </a:prstGeom>
          <a:ln w="14288">
            <a:solidFill>
              <a:srgbClr val="1520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86300" y="1497330"/>
            <a:ext cx="0" cy="17716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72200" y="1497330"/>
            <a:ext cx="0" cy="17716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563220" y="1325880"/>
            <a:ext cx="53721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/image_raw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686300" y="1983105"/>
            <a:ext cx="0" cy="41719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66310" y="2125980"/>
            <a:ext cx="28575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/age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72200" y="1983105"/>
            <a:ext cx="0" cy="41719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52210" y="2125980"/>
            <a:ext cx="36576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/mood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43250" y="2674620"/>
            <a:ext cx="628650" cy="0"/>
          </a:xfrm>
          <a:prstGeom prst="line">
            <a:avLst/>
          </a:prstGeom>
          <a:ln w="17145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77540" y="2497455"/>
            <a:ext cx="58293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1">
                <a:solidFill>
                  <a:srgbClr val="A8862E"/>
                </a:solidFill>
                <a:latin typeface="Georgia"/>
              </a:rPr>
              <a:t>/amcl_pose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3143250" y="3188970"/>
            <a:ext cx="628650" cy="0"/>
          </a:xfrm>
          <a:prstGeom prst="line">
            <a:avLst/>
          </a:prstGeom>
          <a:ln w="17145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177540" y="3234690"/>
            <a:ext cx="56007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1">
                <a:solidFill>
                  <a:srgbClr val="A8862E"/>
                </a:solidFill>
                <a:latin typeface="Georgia"/>
              </a:rPr>
              <a:t>/goal_pose</a:t>
            </a:r>
          </a:p>
        </p:txBody>
      </p:sp>
      <p:sp>
        <p:nvSpPr>
          <p:cNvPr id="54" name="Shape 1"/>
          <p:cNvSpPr/>
          <p:nvPr/>
        </p:nvSpPr>
        <p:spPr>
          <a:xfrm flipV="1">
            <a:off x="335666" y="533865"/>
            <a:ext cx="4696861" cy="14468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0" name="Text 2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00</a:t>
            </a:r>
            <a:endParaRPr lang="en-US" sz="9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F2C581-34C1-D589-12D5-D41054674E9D}"/>
              </a:ext>
            </a:extLst>
          </p:cNvPr>
          <p:cNvSpPr/>
          <p:nvPr/>
        </p:nvSpPr>
        <p:spPr>
          <a:xfrm>
            <a:off x="6809184" y="952311"/>
            <a:ext cx="156451" cy="136044"/>
          </a:xfrm>
          <a:prstGeom prst="roundRect">
            <a:avLst/>
          </a:prstGeom>
          <a:solidFill>
            <a:srgbClr val="152035"/>
          </a:solidFill>
          <a:ln>
            <a:solidFill>
              <a:srgbClr val="A98D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CE5C61-E974-1E81-CD6C-E7DF86FFB97F}"/>
              </a:ext>
            </a:extLst>
          </p:cNvPr>
          <p:cNvSpPr txBox="1"/>
          <p:nvPr/>
        </p:nvSpPr>
        <p:spPr>
          <a:xfrm>
            <a:off x="6960401" y="900560"/>
            <a:ext cx="1545843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Project</a:t>
            </a:r>
            <a:r>
              <a:rPr lang="en-US" sz="1050">
                <a:solidFill>
                  <a:schemeClr val="tx1">
                    <a:lumMod val="76000"/>
                    <a:lumOff val="24000"/>
                  </a:schemeClr>
                </a:solidFill>
                <a:latin typeface="Georgia"/>
                <a:ea typeface="Calibri"/>
                <a:cs typeface="Calibri"/>
              </a:rPr>
              <a:t> 1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8CF3BAC-BAC4-FD45-F9A6-80460EDA7270}"/>
              </a:ext>
            </a:extLst>
          </p:cNvPr>
          <p:cNvSpPr/>
          <p:nvPr/>
        </p:nvSpPr>
        <p:spPr>
          <a:xfrm>
            <a:off x="6809183" y="1178252"/>
            <a:ext cx="156451" cy="136044"/>
          </a:xfrm>
          <a:prstGeom prst="roundRect">
            <a:avLst/>
          </a:prstGeom>
          <a:solidFill>
            <a:srgbClr val="F7F2E7"/>
          </a:solidFill>
          <a:ln>
            <a:solidFill>
              <a:srgbClr val="A98D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C2851B-2086-B503-3F00-2D7CEA517677}"/>
              </a:ext>
            </a:extLst>
          </p:cNvPr>
          <p:cNvSpPr txBox="1"/>
          <p:nvPr/>
        </p:nvSpPr>
        <p:spPr>
          <a:xfrm>
            <a:off x="6960452" y="1122797"/>
            <a:ext cx="1050501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Project</a:t>
            </a:r>
            <a:r>
              <a:rPr lang="en-US" sz="1100">
                <a:solidFill>
                  <a:schemeClr val="tx1">
                    <a:lumMod val="76000"/>
                    <a:lumOff val="24000"/>
                  </a:schemeClr>
                </a:solidFill>
                <a:latin typeface="Georgia"/>
              </a:rPr>
              <a:t> 2</a:t>
            </a:r>
          </a:p>
          <a:p>
            <a:pPr algn="l"/>
            <a:endParaRPr lang="en-US">
              <a:ea typeface="Calibri"/>
              <a:cs typeface="Calibri"/>
            </a:endParaRPr>
          </a:p>
        </p:txBody>
      </p:sp>
      <p:cxnSp>
        <p:nvCxnSpPr>
          <p:cNvPr id="57" name="Connector 29">
            <a:extLst>
              <a:ext uri="{FF2B5EF4-FFF2-40B4-BE49-F238E27FC236}">
                <a16:creationId xmlns:a16="http://schemas.microsoft.com/office/drawing/2014/main" id="{03643DBB-4545-245B-C32A-CFB96C28DD28}"/>
              </a:ext>
            </a:extLst>
          </p:cNvPr>
          <p:cNvCxnSpPr>
            <a:cxnSpLocks/>
          </p:cNvCxnSpPr>
          <p:nvPr/>
        </p:nvCxnSpPr>
        <p:spPr>
          <a:xfrm flipH="1">
            <a:off x="5523613" y="3085701"/>
            <a:ext cx="1167588" cy="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  <a:ea typeface="Georgia" pitchFamily="34" charset="-122"/>
                <a:cs typeface="Georgia" pitchFamily="34" charset="-120"/>
              </a:rPr>
              <a:t>Project I — What We Built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40957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B6557"/>
                </a:solidFill>
                <a:latin typeface="Calibri"/>
                <a:ea typeface="Calibri"/>
                <a:cs typeface="Calibri"/>
              </a:rPr>
              <a:t>Six independent modules, all ready to integrate in Project  II. </a:t>
            </a:r>
            <a:r>
              <a:rPr lang="en-US" sz="11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(make order </a:t>
            </a:r>
            <a:r>
              <a:rPr lang="en-US" sz="1100" i="1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hardware,age,mood,llm,sim,webapp</a:t>
            </a:r>
            <a:r>
              <a:rPr lang="en-US" sz="11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and make each block can be clicked and open its slide and back again to this and also just make the text in each block a short bullets )  (make hardware different color </a:t>
            </a:r>
            <a:r>
              <a:rPr lang="en-US" sz="1100" i="1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bec</a:t>
            </a:r>
            <a:r>
              <a:rPr lang="en-US" sz="11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it will be already presented then each person will enter will start from here and click to his part  </a:t>
            </a:r>
            <a:endParaRPr lang="en-US" sz="110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Web App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67512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Abdallah Eldairouty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667512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</a:t>
            </a:r>
            <a:r>
              <a:rPr lang="en-US" sz="100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PostgreSQL. The integration layer that ties together the LLM chat, vision models (mood + age), navigation, and simulation map — one </a:t>
            </a:r>
            <a:r>
              <a:rPr lang="en-US" sz="100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demoable</a:t>
            </a: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73552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38144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 &amp; Voice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438144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38144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 (Gemini) + Whisper STT + edge-tts TTS. Multilingual in three languages, exhibit-aware prompts.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044184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44184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08776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Recognition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6208776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Nayrouz Ahmed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208776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emotion recognition using OpenCV and a deep-learning model. Streams predictions to the robot brain.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02920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02920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7512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67512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67512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 estimation from a single camera frame. Used to tune the robot's tone for kids vs. adults.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73552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73552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438144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3438144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&amp; Youssef Waleed &amp; </a:t>
            </a:r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438144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Gazebo museum environment and ROS 2 navigation stack — used to validate routes before hardware.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044184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044184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208776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6208776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&amp; Leena Gouda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6208776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/>
              <a:t>Working campus delivery robot — proves the base, motors, and control loop in real corridors.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 - Real-Time Age Estimation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r>
              <a:rPr lang="en-US" sz="1300">
                <a:ea typeface="Calibri"/>
                <a:cs typeface="Calibri"/>
              </a:rPr>
              <a:t>We developed two age detection models trained on the UTK-Face </a:t>
            </a:r>
            <a:r>
              <a:rPr lang="en-US" sz="1300" err="1">
                <a:ea typeface="Calibri"/>
                <a:cs typeface="Calibri"/>
              </a:rPr>
              <a:t>DataSet</a:t>
            </a:r>
            <a:r>
              <a:rPr lang="en-US" sz="1300">
                <a:ea typeface="Calibri"/>
                <a:cs typeface="Calibri"/>
              </a:rPr>
              <a:t> for age classification into 4 age groups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>
                <a:ea typeface="Calibri"/>
                <a:cs typeface="Calibri"/>
              </a:rPr>
              <a:t>Model 1:  Transfer learning a RESNET 50 model on age detection 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>
                <a:ea typeface="Calibri"/>
                <a:cs typeface="Calibri"/>
              </a:rPr>
              <a:t>Model 2 : Stage wise regression CNN  that works on 2 stages , stage 1 -&gt; classification , stage2 -&gt; Regression</a:t>
            </a:r>
            <a:br>
              <a:rPr lang="en-US" sz="1300">
                <a:ea typeface="Calibri"/>
                <a:cs typeface="Calibri"/>
              </a:rPr>
            </a:br>
            <a:br>
              <a:rPr lang="en-US" sz="1300">
                <a:ea typeface="Calibri"/>
                <a:cs typeface="Calibri"/>
              </a:rPr>
            </a:br>
            <a:endParaRPr lang="en-US" sz="1300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FFF3B3-2902-FA03-35E6-99EA033D5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69" y="2325983"/>
            <a:ext cx="2675418" cy="2166162"/>
          </a:xfrm>
          <a:prstGeom prst="rect">
            <a:avLst/>
          </a:prstGeom>
        </p:spPr>
      </p:pic>
      <p:pic>
        <p:nvPicPr>
          <p:cNvPr id="15" name="Picture 14" descr="A person taking a selfie&#10;&#10;AI-generated content may be incorrect.">
            <a:extLst>
              <a:ext uri="{FF2B5EF4-FFF2-40B4-BE49-F238E27FC236}">
                <a16:creationId xmlns:a16="http://schemas.microsoft.com/office/drawing/2014/main" id="{818F550C-966B-BF49-333F-29894CAD6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642" y="2325872"/>
            <a:ext cx="2899525" cy="22594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DD967-AF3C-6A68-6800-BD8E2BF8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52D06E-4B98-D036-6A4A-319623B3A6BB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D6A072-6F4E-6901-648D-AB87989D3D6F}"/>
              </a:ext>
            </a:extLst>
          </p:cNvPr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AB3F1B-CE70-5266-81CE-09713F128BD2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 - Real-Time Age Estimation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A3EE87-8AD8-0FED-CC5E-BC94B1C770D3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endParaRPr lang="en-US" sz="1400"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C221A4-6040-6B5B-9A04-F1B8F686204F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0C6FF9-0B67-1621-DDBD-D5649F3E686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EC59E3-A686-137B-5378-43AD84C20562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2EDE7A1-B7B2-E78D-FED8-5EB9195628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0045" y="231422"/>
            <a:ext cx="4808521" cy="44760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708AE5-DD24-3F7B-2C43-C98C29BFB886}"/>
              </a:ext>
            </a:extLst>
          </p:cNvPr>
          <p:cNvSpPr txBox="1"/>
          <p:nvPr/>
        </p:nvSpPr>
        <p:spPr>
          <a:xfrm>
            <a:off x="909299" y="2237471"/>
            <a:ext cx="263405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Model 1</a:t>
            </a:r>
          </a:p>
          <a:p>
            <a:r>
              <a:rPr lang="en-US" sz="3200">
                <a:ea typeface="Calibri"/>
                <a:cs typeface="Calibri"/>
              </a:rPr>
              <a:t>ResNet50</a:t>
            </a:r>
          </a:p>
        </p:txBody>
      </p:sp>
    </p:spTree>
    <p:extLst>
      <p:ext uri="{BB962C8B-B14F-4D97-AF65-F5344CB8AC3E}">
        <p14:creationId xmlns:p14="http://schemas.microsoft.com/office/powerpoint/2010/main" val="2598955912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24FF4-1C2F-55DD-52AB-6D3EE819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2A0648-647E-1728-4B4D-D435CD30AE23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05B252-9E19-6026-EA43-8137CA8A99B3}"/>
              </a:ext>
            </a:extLst>
          </p:cNvPr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21813A-6AEF-8C5D-7993-5DF078A46D42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 - Real-Time Age Estimation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626C99-5704-DD9E-2D8E-27675FBB16E0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endParaRPr lang="en-US" sz="1400"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102A9E2-23C4-2B6E-3A6D-112D39A198BE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331E09-46FB-902D-8261-769B0AC8266A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4C16EF-1621-FFA1-7056-9300BDC7C49E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D6AD2ED-5ABB-99C2-1FD3-DE6533A23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1446" y="153812"/>
            <a:ext cx="4449384" cy="45536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557E7A-79B1-0090-C4EC-3DE8824B51FC}"/>
              </a:ext>
            </a:extLst>
          </p:cNvPr>
          <p:cNvSpPr txBox="1"/>
          <p:nvPr/>
        </p:nvSpPr>
        <p:spPr>
          <a:xfrm>
            <a:off x="933061" y="2243316"/>
            <a:ext cx="2461692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Model 2</a:t>
            </a:r>
          </a:p>
          <a:p>
            <a:r>
              <a:rPr lang="en-US" sz="3200">
                <a:ea typeface="Calibri"/>
                <a:cs typeface="Calibri"/>
              </a:rPr>
              <a:t>SSR-CNN</a:t>
            </a:r>
          </a:p>
        </p:txBody>
      </p:sp>
    </p:spTree>
    <p:extLst>
      <p:ext uri="{BB962C8B-B14F-4D97-AF65-F5344CB8AC3E}">
        <p14:creationId xmlns:p14="http://schemas.microsoft.com/office/powerpoint/2010/main" val="2013832310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07DB4-BA0C-2C9B-6CFD-89C72CFF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49DFBD-544C-49C8-2368-80688D8D4F27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822818-2329-0C80-F593-326D5210BF54}"/>
              </a:ext>
            </a:extLst>
          </p:cNvPr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79FB42-CAA7-CCA2-D915-EEF49AAA8F21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endParaRPr lang="en-US" sz="28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3BE86EB-563F-BD12-3FD0-FBCD5A4624F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87696D-61CA-9308-388B-89DAA5AAC013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3EC5A5-6536-BA20-6436-E32E0BD065FD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F97BE6-C52D-A78E-2AD1-17CE8F912D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1193" y="1029445"/>
            <a:ext cx="6240517" cy="35600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FF6D97-4CA5-B507-2C54-27A2C4D6655A}"/>
              </a:ext>
            </a:extLst>
          </p:cNvPr>
          <p:cNvSpPr txBox="1"/>
          <p:nvPr/>
        </p:nvSpPr>
        <p:spPr>
          <a:xfrm>
            <a:off x="5143748" y="447974"/>
            <a:ext cx="31692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942995003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715A0-AA45-8C7B-5DED-93E92934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CA3A71-27B1-437A-D206-21D58AED6D1B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A7C65E-26BB-87AC-C1AE-8991AD069404}"/>
              </a:ext>
            </a:extLst>
          </p:cNvPr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48B5BB-6AFB-C201-2F0D-5993F4A7A7B2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endParaRPr lang="en-US" sz="28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6B67EA6-8ACB-9030-F92A-3CC90B3DDD72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EFA691C-D230-64C2-8DD1-9144032DFC87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5F1915-8EDC-99CD-B9F4-42ADAC1148DF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E3A8F5-223E-F31F-A1B2-036DA3B05B01}"/>
              </a:ext>
            </a:extLst>
          </p:cNvPr>
          <p:cNvSpPr txBox="1"/>
          <p:nvPr/>
        </p:nvSpPr>
        <p:spPr>
          <a:xfrm>
            <a:off x="5143748" y="447974"/>
            <a:ext cx="31692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RESULTS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48D69F5-EAAF-8A39-E7EC-8987F2E18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5396" y="1034170"/>
            <a:ext cx="6073849" cy="37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08210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Mood Recognition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title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Real-Time Facial Emotion Recognition</a:t>
            </a:r>
          </a:p>
        </p:txBody>
      </p:sp>
      <p:sp>
        <p:nvSpPr>
          <p:cNvPr id="5" name="Card5"/>
          <p:cNvSpPr>
            <a:spLocks noGrp="1"/>
          </p:cNvSpPr>
          <p:nvPr/>
        </p:nvSpPr>
        <p:spPr>
          <a:xfrm>
            <a:off x="548640" y="1390000"/>
            <a:ext cx="3810000" cy="32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Card6"/>
          <p:cNvSpPr>
            <a:spLocks noGrp="1"/>
          </p:cNvSpPr>
          <p:nvPr/>
        </p:nvSpPr>
        <p:spPr>
          <a:xfrm>
            <a:off x="4480000" y="1390000"/>
            <a:ext cx="4115360" cy="32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T7"/>
          <p:cNvSpPr/>
          <p:nvPr/>
        </p:nvSpPr>
        <p:spPr>
          <a:xfrm>
            <a:off x="580000" y="1420000"/>
            <a:ext cx="374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 b="1">
                <a:solidFill>
                  <a:srgbClr val="152035"/>
                </a:solidFill>
                <a:latin typeface="Georgia" pitchFamily="34" charset="0"/>
              </a:rPr>
              <a:t>What is Mood Recognition?</a:t>
            </a:r>
          </a:p>
        </p:txBody>
      </p:sp>
      <p:sp>
        <p:nvSpPr>
          <p:cNvPr id="8" name="ML8"/>
          <p:cNvSpPr/>
          <p:nvPr/>
        </p:nvSpPr>
        <p:spPr>
          <a:xfrm>
            <a:off x="640000" y="1740000"/>
            <a:ext cx="3620000" cy="1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>
                <a:solidFill>
                  <a:srgbClr val="3C3A34"/>
                </a:solidFill>
              </a:rPr>
              <a:t>THOTH reads the visitor's facial expression in real time using the device camera.</a:t>
            </a:r>
          </a:p>
          <a:p>
            <a:endParaRPr lang="en-US" sz="1150">
              <a:solidFill>
                <a:srgbClr val="3C3A34"/>
              </a:solidFill>
            </a:endParaRPr>
          </a:p>
          <a:p>
            <a:r>
              <a:rPr lang="en-US" sz="1150">
                <a:solidFill>
                  <a:srgbClr val="3C3A34"/>
                </a:solidFill>
              </a:rPr>
              <a:t>The detected emotion is streamed via ROS 2 to the docent stack, which adjusts tone, vocabulary, and pacing — so a visibly bored child and an excited researcher both get a response tailored to them.</a:t>
            </a:r>
          </a:p>
        </p:txBody>
      </p:sp>
      <p:sp>
        <p:nvSpPr>
          <p:cNvPr id="9" name="T9"/>
          <p:cNvSpPr/>
          <p:nvPr/>
        </p:nvSpPr>
        <p:spPr>
          <a:xfrm>
            <a:off x="640000" y="3680000"/>
            <a:ext cx="3620000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Angry  |  Disgust  |  Fear  |  Happy  |  Sad  |  Surprise  |  Neutral</a:t>
            </a:r>
          </a:p>
        </p:txBody>
      </p:sp>
      <p:sp>
        <p:nvSpPr>
          <p:cNvPr id="10" name="T10"/>
          <p:cNvSpPr/>
          <p:nvPr/>
        </p:nvSpPr>
        <p:spPr>
          <a:xfrm>
            <a:off x="4510000" y="1420000"/>
            <a:ext cx="405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 b="1">
                <a:solidFill>
                  <a:srgbClr val="152035"/>
                </a:solidFill>
                <a:latin typeface="Georgia" pitchFamily="34" charset="0"/>
              </a:rPr>
              <a:t>Technical Stack</a:t>
            </a:r>
          </a:p>
        </p:txBody>
      </p:sp>
      <p:sp>
        <p:nvSpPr>
          <p:cNvPr id="11" name="ML11"/>
          <p:cNvSpPr/>
          <p:nvPr/>
        </p:nvSpPr>
        <p:spPr>
          <a:xfrm>
            <a:off x="4570000" y="1740000"/>
            <a:ext cx="3930000" cy="28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b="1">
                <a:solidFill>
                  <a:srgbClr val="A8862E"/>
                </a:solidFill>
              </a:rPr>
              <a:t>Framework</a:t>
            </a:r>
          </a:p>
          <a:p>
            <a:r>
              <a:rPr lang="en-US" sz="1100">
                <a:solidFill>
                  <a:srgbClr val="3C3A34"/>
                </a:solidFill>
              </a:rPr>
              <a:t>PyTorch  |  Transfer Learning from ImageNet</a:t>
            </a:r>
          </a:p>
          <a:p>
            <a:endParaRPr lang="en-US" sz="110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A8862E"/>
                </a:solidFill>
              </a:rPr>
              <a:t>Vision</a:t>
            </a:r>
          </a:p>
          <a:p>
            <a:r>
              <a:rPr lang="en-US" sz="1100">
                <a:solidFill>
                  <a:srgbClr val="3C3A34"/>
                </a:solidFill>
              </a:rPr>
              <a:t>OpenCV face detection  |  input resized to 224x224</a:t>
            </a:r>
          </a:p>
          <a:p>
            <a:endParaRPr lang="en-US" sz="110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A8862E"/>
                </a:solidFill>
              </a:rPr>
              <a:t>Models Trained</a:t>
            </a:r>
          </a:p>
          <a:p>
            <a:r>
              <a:rPr lang="en-US" sz="1100">
                <a:solidFill>
                  <a:srgbClr val="3C3A34"/>
                </a:solidFill>
              </a:rPr>
              <a:t>EfficientNet-B2 on RAF-DB  —  78.29% accuracy</a:t>
            </a:r>
          </a:p>
          <a:p>
            <a:r>
              <a:rPr lang="en-US" sz="1100">
                <a:solidFill>
                  <a:srgbClr val="3C3A34"/>
                </a:solidFill>
              </a:rPr>
              <a:t>EfficientNet-B0 on FER2013  —  67.16% accuracy</a:t>
            </a:r>
          </a:p>
          <a:p>
            <a:endParaRPr lang="en-US" sz="110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A8862E"/>
                </a:solidFill>
              </a:rPr>
              <a:t>Output</a:t>
            </a:r>
          </a:p>
          <a:p>
            <a:r>
              <a:rPr lang="en-US" sz="1100">
                <a:solidFill>
                  <a:srgbClr val="3C3A34"/>
                </a:solidFill>
              </a:rPr>
              <a:t>7-class softmax  →  /mood ROS 2 topic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23 / 00</a:t>
            </a:r>
          </a:p>
        </p:txBody>
      </p:sp>
    </p:spTree>
    <p:extLst>
      <p:ext uri="{BB962C8B-B14F-4D97-AF65-F5344CB8AC3E}">
        <p14:creationId xmlns:p14="http://schemas.microsoft.com/office/powerpoint/2010/main" val="859591249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Dataset Comparison  —  RAF-DB vs FER2013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A comparative study across two datasets</a:t>
            </a:r>
          </a:p>
        </p:txBody>
      </p:sp>
      <p:sp>
        <p:nvSpPr>
          <p:cNvPr id="5" name="C5"/>
          <p:cNvSpPr>
            <a:spLocks noGrp="1"/>
          </p:cNvSpPr>
          <p:nvPr/>
        </p:nvSpPr>
        <p:spPr>
          <a:xfrm>
            <a:off x="548640" y="1380000"/>
            <a:ext cx="3900000" cy="322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C6"/>
          <p:cNvSpPr>
            <a:spLocks noGrp="1"/>
          </p:cNvSpPr>
          <p:nvPr/>
        </p:nvSpPr>
        <p:spPr>
          <a:xfrm>
            <a:off x="4540080" y="1380000"/>
            <a:ext cx="3900000" cy="322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M7"/>
          <p:cNvSpPr/>
          <p:nvPr/>
        </p:nvSpPr>
        <p:spPr>
          <a:xfrm>
            <a:off x="608640" y="1420000"/>
            <a:ext cx="3780000" cy="3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 b="1">
                <a:solidFill>
                  <a:srgbClr val="152035"/>
                </a:solidFill>
              </a:rPr>
              <a:t>RAF-DB  —  Real-world Affective Faces Database</a:t>
            </a:r>
          </a:p>
        </p:txBody>
      </p:sp>
      <p:sp>
        <p:nvSpPr>
          <p:cNvPr id="8" name="M8"/>
          <p:cNvSpPr/>
          <p:nvPr/>
        </p:nvSpPr>
        <p:spPr>
          <a:xfrm>
            <a:off x="608640" y="1730000"/>
            <a:ext cx="3780000" cy="14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15,339 images  |  7 emotion classes  |  color, ~100x100 px</a:t>
            </a:r>
          </a:p>
          <a:p>
            <a:r>
              <a:rPr lang="en-US" sz="1050">
                <a:solidFill>
                  <a:srgbClr val="3C3A34"/>
                </a:solidFill>
              </a:rPr>
              <a:t>In-the-wild photos: diverse lighting, pose, age, ethnicity</a:t>
            </a:r>
          </a:p>
          <a:p>
            <a:r>
              <a:rPr lang="en-US" sz="1050">
                <a:solidFill>
                  <a:srgbClr val="3C3A34"/>
                </a:solidFill>
              </a:rPr>
              <a:t>Class imbalance: Happy (17x) vs Fear  |  many classes skewed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Model:  EfficientNet-B2  (8.42M params)</a:t>
            </a:r>
          </a:p>
          <a:p>
            <a:r>
              <a:rPr lang="en-US" sz="1050">
                <a:solidFill>
                  <a:srgbClr val="3C3A34"/>
                </a:solidFill>
              </a:rPr>
              <a:t>Two-stage warmup fine-tune  |  Double-Dropout head</a:t>
            </a:r>
          </a:p>
          <a:p>
            <a:r>
              <a:rPr lang="en-US" sz="1050">
                <a:solidFill>
                  <a:srgbClr val="3C3A34"/>
                </a:solidFill>
              </a:rPr>
              <a:t>WeightedRandomSampler  |  label smoothing = 0.1</a:t>
            </a:r>
          </a:p>
        </p:txBody>
      </p:sp>
      <p:sp>
        <p:nvSpPr>
          <p:cNvPr id="9" name="D9"/>
          <p:cNvSpPr/>
          <p:nvPr/>
        </p:nvSpPr>
        <p:spPr>
          <a:xfrm>
            <a:off x="608640" y="3200000"/>
            <a:ext cx="37800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M10"/>
          <p:cNvSpPr/>
          <p:nvPr/>
        </p:nvSpPr>
        <p:spPr>
          <a:xfrm>
            <a:off x="608640" y="3260000"/>
            <a:ext cx="3780000" cy="12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Final Results</a:t>
            </a:r>
          </a:p>
          <a:p>
            <a:r>
              <a:rPr lang="en-US" sz="1200" b="1">
                <a:solidFill>
                  <a:srgbClr val="152035"/>
                </a:solidFill>
              </a:rPr>
              <a:t>Test accuracy:   78.29%</a:t>
            </a:r>
          </a:p>
          <a:p>
            <a:r>
              <a:rPr lang="en-US" sz="1050">
                <a:solidFill>
                  <a:srgbClr val="3C3A34"/>
                </a:solidFill>
              </a:rPr>
              <a:t>Train Loss: 0.76   |   Val Loss: 0.92</a:t>
            </a:r>
          </a:p>
          <a:p>
            <a:r>
              <a:rPr lang="en-US" sz="1050" i="1">
                <a:solidFill>
                  <a:srgbClr val="6B6557"/>
                </a:solidFill>
              </a:rPr>
              <a:t>No overfitting  —  tight train/val gap throughout</a:t>
            </a:r>
          </a:p>
          <a:p>
            <a:r>
              <a:rPr lang="en-US" sz="1050">
                <a:solidFill>
                  <a:srgbClr val="3C3A34"/>
                </a:solidFill>
              </a:rPr>
              <a:t>Best F1: Happy 0.89, Neutral 0.73</a:t>
            </a:r>
          </a:p>
          <a:p>
            <a:r>
              <a:rPr lang="en-US" sz="1050">
                <a:solidFill>
                  <a:srgbClr val="3C3A34"/>
                </a:solidFill>
              </a:rPr>
              <a:t>Lowest F1: Fear 0.54, Disgust 0.50  (74 &amp; 160 test samples)</a:t>
            </a:r>
          </a:p>
        </p:txBody>
      </p:sp>
      <p:sp>
        <p:nvSpPr>
          <p:cNvPr id="11" name="M11"/>
          <p:cNvSpPr/>
          <p:nvPr/>
        </p:nvSpPr>
        <p:spPr>
          <a:xfrm>
            <a:off x="4600080" y="1420000"/>
            <a:ext cx="3780000" cy="3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 b="1">
                <a:solidFill>
                  <a:srgbClr val="152035"/>
                </a:solidFill>
              </a:rPr>
              <a:t>FER2013  —  Facial Expression Recognition 2013</a:t>
            </a:r>
          </a:p>
        </p:txBody>
      </p:sp>
      <p:sp>
        <p:nvSpPr>
          <p:cNvPr id="12" name="M12"/>
          <p:cNvSpPr/>
          <p:nvPr/>
        </p:nvSpPr>
        <p:spPr>
          <a:xfrm>
            <a:off x="4600080" y="1730000"/>
            <a:ext cx="3780000" cy="14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35,887 images  |  7 emotion classes  |  grayscale, 48x48 px</a:t>
            </a:r>
          </a:p>
          <a:p>
            <a:r>
              <a:rPr lang="en-US" sz="1050">
                <a:solidFill>
                  <a:srgbClr val="3C3A34"/>
                </a:solidFill>
              </a:rPr>
              <a:t>Crowd-sourced &amp; noisy  |  ~10% label errors  |  ICML 2013</a:t>
            </a:r>
          </a:p>
          <a:p>
            <a:r>
              <a:rPr lang="en-US" sz="1050">
                <a:solidFill>
                  <a:srgbClr val="3C3A34"/>
                </a:solidFill>
              </a:rPr>
              <a:t>Class imbalance: Disgust only 1.5% (16x less than Happy)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Model:  EfficientNet-B0  (5.3M params)</a:t>
            </a:r>
          </a:p>
          <a:p>
            <a:r>
              <a:rPr lang="en-US" sz="1050">
                <a:solidFill>
                  <a:srgbClr val="3C3A34"/>
                </a:solidFill>
              </a:rPr>
              <a:t>Single-stage partial fine-tune  |  Dropout(0.5) head</a:t>
            </a:r>
          </a:p>
          <a:p>
            <a:r>
              <a:rPr lang="en-US" sz="1050">
                <a:solidFill>
                  <a:srgbClr val="3C3A34"/>
                </a:solidFill>
              </a:rPr>
              <a:t>WeightedRandomSampler  |  AdamW  |  label smoothing</a:t>
            </a:r>
          </a:p>
        </p:txBody>
      </p:sp>
      <p:sp>
        <p:nvSpPr>
          <p:cNvPr id="13" name="D13"/>
          <p:cNvSpPr/>
          <p:nvPr/>
        </p:nvSpPr>
        <p:spPr>
          <a:xfrm>
            <a:off x="4600080" y="3200000"/>
            <a:ext cx="37800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M14"/>
          <p:cNvSpPr/>
          <p:nvPr/>
        </p:nvSpPr>
        <p:spPr>
          <a:xfrm>
            <a:off x="4600080" y="3260000"/>
            <a:ext cx="3780000" cy="12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Final Results</a:t>
            </a:r>
          </a:p>
          <a:p>
            <a:r>
              <a:rPr lang="en-US" sz="1200" b="1">
                <a:solidFill>
                  <a:srgbClr val="152035"/>
                </a:solidFill>
              </a:rPr>
              <a:t>Test accuracy:   67.16%</a:t>
            </a:r>
          </a:p>
          <a:p>
            <a:r>
              <a:rPr lang="en-US" sz="1050">
                <a:solidFill>
                  <a:srgbClr val="3C3A34"/>
                </a:solidFill>
              </a:rPr>
              <a:t>Train Loss: ~1.2   |   Val Loss: ~1.0</a:t>
            </a:r>
          </a:p>
          <a:p>
            <a:r>
              <a:rPr lang="en-US" sz="1050" i="1">
                <a:solidFill>
                  <a:srgbClr val="6B6557"/>
                </a:solidFill>
              </a:rPr>
              <a:t>Mild overfitting  —  inherent to noisy low-res data</a:t>
            </a:r>
          </a:p>
          <a:p>
            <a:r>
              <a:rPr lang="en-US" sz="1050">
                <a:solidFill>
                  <a:srgbClr val="3C3A34"/>
                </a:solidFill>
              </a:rPr>
              <a:t>Best F1: Happy 0.87, Surprise 0.78</a:t>
            </a:r>
          </a:p>
          <a:p>
            <a:r>
              <a:rPr lang="en-US" sz="1050">
                <a:solidFill>
                  <a:srgbClr val="3C3A34"/>
                </a:solidFill>
              </a:rPr>
              <a:t>Lowest F1: Fear 0.54, Sad 0.57  (human ceiling ~65%)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24 / 00</a:t>
            </a:r>
          </a:p>
        </p:txBody>
      </p:sp>
    </p:spTree>
    <p:extLst>
      <p:ext uri="{BB962C8B-B14F-4D97-AF65-F5344CB8AC3E}">
        <p14:creationId xmlns:p14="http://schemas.microsoft.com/office/powerpoint/2010/main" val="1785350967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Model Architecture &amp; Training Setup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title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EfficientNet-B0 Fine-Tuning Pipeline</a:t>
            </a:r>
          </a:p>
        </p:txBody>
      </p:sp>
      <p:sp>
        <p:nvSpPr>
          <p:cNvPr id="5" name="Card5"/>
          <p:cNvSpPr>
            <a:spLocks noGrp="1"/>
          </p:cNvSpPr>
          <p:nvPr/>
        </p:nvSpPr>
        <p:spPr>
          <a:xfrm>
            <a:off x="548640" y="1380000"/>
            <a:ext cx="3810000" cy="325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Card6"/>
          <p:cNvSpPr>
            <a:spLocks noGrp="1"/>
          </p:cNvSpPr>
          <p:nvPr/>
        </p:nvSpPr>
        <p:spPr>
          <a:xfrm>
            <a:off x="4480000" y="1380000"/>
            <a:ext cx="4115360" cy="325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T7"/>
          <p:cNvSpPr/>
          <p:nvPr/>
        </p:nvSpPr>
        <p:spPr>
          <a:xfrm>
            <a:off x="580000" y="1420000"/>
            <a:ext cx="374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MODEL PIPELINE</a:t>
            </a:r>
          </a:p>
        </p:txBody>
      </p:sp>
      <p:sp>
        <p:nvSpPr>
          <p:cNvPr id="8" name="ML8"/>
          <p:cNvSpPr/>
          <p:nvPr/>
        </p:nvSpPr>
        <p:spPr>
          <a:xfrm>
            <a:off x="640000" y="1740000"/>
            <a:ext cx="3640000" cy="27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b="1">
                <a:solidFill>
                  <a:srgbClr val="152035"/>
                </a:solidFill>
              </a:rPr>
              <a:t>1  •  Input</a:t>
            </a:r>
          </a:p>
          <a:p>
            <a:r>
              <a:rPr lang="en-US" sz="1050">
                <a:solidFill>
                  <a:srgbClr val="3C3A34"/>
                </a:solidFill>
              </a:rPr>
              <a:t>224×224 px, grayscale → 3-channel (ImageNet compat.)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150" b="1">
                <a:solidFill>
                  <a:srgbClr val="152035"/>
                </a:solidFill>
              </a:rPr>
              <a:t>2  •  EfficientNet-B0 Backbone</a:t>
            </a:r>
          </a:p>
          <a:p>
            <a:r>
              <a:rPr lang="en-US" sz="1050">
                <a:solidFill>
                  <a:srgbClr val="3C3A34"/>
                </a:solidFill>
              </a:rPr>
              <a:t>ImageNet pretrained  •  features[6:] unfrozen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150" b="1">
                <a:solidFill>
                  <a:srgbClr val="152035"/>
                </a:solidFill>
              </a:rPr>
              <a:t>3  •  Custom Classifier Head</a:t>
            </a:r>
          </a:p>
          <a:p>
            <a:r>
              <a:rPr lang="en-US" sz="1050">
                <a:solidFill>
                  <a:srgbClr val="3C3A34"/>
                </a:solidFill>
              </a:rPr>
              <a:t>Dropout(0.5) → Linear(1280 → 7)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150" b="1">
                <a:solidFill>
                  <a:srgbClr val="152035"/>
                </a:solidFill>
              </a:rPr>
              <a:t>4  •  Output</a:t>
            </a:r>
          </a:p>
          <a:p>
            <a:r>
              <a:rPr lang="en-US" sz="1050">
                <a:solidFill>
                  <a:srgbClr val="3C3A34"/>
                </a:solidFill>
              </a:rPr>
              <a:t>7-class softmax logits (one per emotion)</a:t>
            </a:r>
          </a:p>
        </p:txBody>
      </p:sp>
      <p:sp>
        <p:nvSpPr>
          <p:cNvPr id="11" name="T11"/>
          <p:cNvSpPr/>
          <p:nvPr/>
        </p:nvSpPr>
        <p:spPr>
          <a:xfrm>
            <a:off x="4510000" y="1420000"/>
            <a:ext cx="405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TRAINING SETUP</a:t>
            </a:r>
          </a:p>
        </p:txBody>
      </p:sp>
      <p:sp>
        <p:nvSpPr>
          <p:cNvPr id="12" name="ML12"/>
          <p:cNvSpPr/>
          <p:nvPr/>
        </p:nvSpPr>
        <p:spPr>
          <a:xfrm>
            <a:off x="4570000" y="1740000"/>
            <a:ext cx="3930000" cy="27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b="1">
                <a:solidFill>
                  <a:srgbClr val="152035"/>
                </a:solidFill>
              </a:rPr>
              <a:t>Optimizer</a:t>
            </a:r>
          </a:p>
          <a:p>
            <a:r>
              <a:rPr lang="en-US" sz="1050">
                <a:solidFill>
                  <a:srgbClr val="3C3A34"/>
                </a:solidFill>
              </a:rPr>
              <a:t>AdamW  •  weight decay = 1e-4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Loss</a:t>
            </a:r>
          </a:p>
          <a:p>
            <a:r>
              <a:rPr lang="en-US" sz="1050">
                <a:solidFill>
                  <a:srgbClr val="3C3A34"/>
                </a:solidFill>
              </a:rPr>
              <a:t>CrossEntropyLoss  •  label smoothing = 0.1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Learning Rate / Batch / Epochs</a:t>
            </a:r>
          </a:p>
          <a:p>
            <a:r>
              <a:rPr lang="en-US" sz="1050">
                <a:solidFill>
                  <a:srgbClr val="3C3A34"/>
                </a:solidFill>
              </a:rPr>
              <a:t>LR = 5e-5  •  Batch = 32  •  Up to 30 epochs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Early Stopping</a:t>
            </a:r>
          </a:p>
          <a:p>
            <a:r>
              <a:rPr lang="en-US" sz="1050">
                <a:solidFill>
                  <a:srgbClr val="3C3A34"/>
                </a:solidFill>
              </a:rPr>
              <a:t>Patience = 3  •  Best val-accuracy checkpoint saved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Sampler</a:t>
            </a:r>
          </a:p>
          <a:p>
            <a:r>
              <a:rPr lang="en-US" sz="1050">
                <a:solidFill>
                  <a:srgbClr val="3C3A34"/>
                </a:solidFill>
              </a:rPr>
              <a:t>WeightedRandomSampler  —  balances all 7 classes per batch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26 / 00</a:t>
            </a:r>
          </a:p>
        </p:txBody>
      </p:sp>
    </p:spTree>
    <p:extLst>
      <p:ext uri="{BB962C8B-B14F-4D97-AF65-F5344CB8AC3E}">
        <p14:creationId xmlns:p14="http://schemas.microsoft.com/office/powerpoint/2010/main" val="1142769822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Handling Class Imbalance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title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Three-layer fix for uneven emotion distribution</a:t>
            </a:r>
          </a:p>
        </p:txBody>
      </p:sp>
      <p:sp>
        <p:nvSpPr>
          <p:cNvPr id="5" name="Card5"/>
          <p:cNvSpPr>
            <a:spLocks noGrp="1"/>
          </p:cNvSpPr>
          <p:nvPr/>
        </p:nvSpPr>
        <p:spPr>
          <a:xfrm>
            <a:off x="548640" y="1380000"/>
            <a:ext cx="8046720" cy="125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T6"/>
          <p:cNvSpPr/>
          <p:nvPr/>
        </p:nvSpPr>
        <p:spPr>
          <a:xfrm>
            <a:off x="580000" y="1420000"/>
            <a:ext cx="796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THE PROBLEM</a:t>
            </a:r>
          </a:p>
        </p:txBody>
      </p:sp>
      <p:sp>
        <p:nvSpPr>
          <p:cNvPr id="7" name="ML7"/>
          <p:cNvSpPr/>
          <p:nvPr/>
        </p:nvSpPr>
        <p:spPr>
          <a:xfrm>
            <a:off x="640000" y="1740000"/>
            <a:ext cx="785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>
                <a:solidFill>
                  <a:srgbClr val="3C3A34"/>
                </a:solidFill>
              </a:rPr>
              <a:t>Both datasets suffer from class imbalance. RAF-DB: Happy has 1,185 test images while Fear has only 74 — a 17× gap across many classes. FER2013: Happy dominates at 25% while Disgust is only 1.5% (547 images) — a 16× gap concentrated in one class. In both cases a naive model learns to predict the majority class and completely ignores rare emotions.</a:t>
            </a:r>
          </a:p>
        </p:txBody>
      </p:sp>
      <p:sp>
        <p:nvSpPr>
          <p:cNvPr id="8" name="Card8"/>
          <p:cNvSpPr>
            <a:spLocks noGrp="1"/>
          </p:cNvSpPr>
          <p:nvPr/>
        </p:nvSpPr>
        <p:spPr>
          <a:xfrm>
            <a:off x="548640" y="2700000"/>
            <a:ext cx="2530000" cy="19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T9"/>
          <p:cNvSpPr/>
          <p:nvPr/>
        </p:nvSpPr>
        <p:spPr>
          <a:xfrm>
            <a:off x="580000" y="2740000"/>
            <a:ext cx="246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b="1">
                <a:solidFill>
                  <a:srgbClr val="152035"/>
                </a:solidFill>
              </a:rPr>
              <a:t>01  •  Augmentation</a:t>
            </a:r>
          </a:p>
        </p:txBody>
      </p:sp>
      <p:sp>
        <p:nvSpPr>
          <p:cNvPr id="10" name="ML10"/>
          <p:cNvSpPr/>
          <p:nvPr/>
        </p:nvSpPr>
        <p:spPr>
          <a:xfrm>
            <a:off x="640000" y="3060000"/>
            <a:ext cx="2360000" cy="1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RandomHorizontalFlip (p=0.5)</a:t>
            </a:r>
          </a:p>
          <a:p>
            <a:r>
              <a:rPr lang="en-US" sz="1050">
                <a:solidFill>
                  <a:srgbClr val="3C3A34"/>
                </a:solidFill>
              </a:rPr>
              <a:t>RandomRotation (±15°)</a:t>
            </a:r>
          </a:p>
          <a:p>
            <a:r>
              <a:rPr lang="en-US" sz="1050">
                <a:solidFill>
                  <a:srgbClr val="3C3A34"/>
                </a:solidFill>
              </a:rPr>
              <a:t>RandomAffine + ColorJitter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00" i="1">
                <a:solidFill>
                  <a:srgbClr val="6B6557"/>
                </a:solidFill>
              </a:rPr>
              <a:t>Avoided vertical flips &amp; aggressive crops to protect natural facial features.</a:t>
            </a:r>
          </a:p>
        </p:txBody>
      </p:sp>
      <p:sp>
        <p:nvSpPr>
          <p:cNvPr id="11" name="Card11"/>
          <p:cNvSpPr>
            <a:spLocks noGrp="1"/>
          </p:cNvSpPr>
          <p:nvPr/>
        </p:nvSpPr>
        <p:spPr>
          <a:xfrm>
            <a:off x="3200000" y="2700000"/>
            <a:ext cx="2530000" cy="19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T12"/>
          <p:cNvSpPr/>
          <p:nvPr/>
        </p:nvSpPr>
        <p:spPr>
          <a:xfrm>
            <a:off x="3230000" y="2740000"/>
            <a:ext cx="246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b="1">
                <a:solidFill>
                  <a:srgbClr val="152035"/>
                </a:solidFill>
              </a:rPr>
              <a:t>02  •  WeightedRandomSampler</a:t>
            </a:r>
          </a:p>
        </p:txBody>
      </p:sp>
      <p:sp>
        <p:nvSpPr>
          <p:cNvPr id="13" name="ML13"/>
          <p:cNvSpPr/>
          <p:nvPr/>
        </p:nvSpPr>
        <p:spPr>
          <a:xfrm>
            <a:off x="3290000" y="3060000"/>
            <a:ext cx="2360000" cy="1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Inverse-frequency class weights</a:t>
            </a:r>
          </a:p>
          <a:p>
            <a:r>
              <a:rPr lang="en-US" sz="1050">
                <a:solidFill>
                  <a:srgbClr val="3C3A34"/>
                </a:solidFill>
              </a:rPr>
              <a:t>Rare classes (Disgust, Fear) sampled more frequently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00" b="1">
                <a:solidFill>
                  <a:srgbClr val="2B5E3E"/>
                </a:solidFill>
              </a:rPr>
              <a:t>Result: all 7 emotions appear ~equally in every training batch (n≈140 per class).</a:t>
            </a:r>
          </a:p>
        </p:txBody>
      </p:sp>
      <p:sp>
        <p:nvSpPr>
          <p:cNvPr id="14" name="Card14"/>
          <p:cNvSpPr>
            <a:spLocks noGrp="1"/>
          </p:cNvSpPr>
          <p:nvPr/>
        </p:nvSpPr>
        <p:spPr>
          <a:xfrm>
            <a:off x="5850000" y="2700000"/>
            <a:ext cx="2745000" cy="19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T15"/>
          <p:cNvSpPr/>
          <p:nvPr/>
        </p:nvSpPr>
        <p:spPr>
          <a:xfrm>
            <a:off x="5880000" y="2740000"/>
            <a:ext cx="268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b="1">
                <a:solidFill>
                  <a:srgbClr val="152035"/>
                </a:solidFill>
              </a:rPr>
              <a:t>03  •  Label Smoothing</a:t>
            </a:r>
          </a:p>
        </p:txBody>
      </p:sp>
      <p:sp>
        <p:nvSpPr>
          <p:cNvPr id="16" name="ML16"/>
          <p:cNvSpPr/>
          <p:nvPr/>
        </p:nvSpPr>
        <p:spPr>
          <a:xfrm>
            <a:off x="5940000" y="3060000"/>
            <a:ext cx="2600000" cy="1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CrossEntropyLoss with smoothing = 0.1</a:t>
            </a:r>
          </a:p>
          <a:p>
            <a:r>
              <a:rPr lang="en-US" sz="1050">
                <a:solidFill>
                  <a:srgbClr val="3C3A34"/>
                </a:solidFill>
              </a:rPr>
              <a:t>Prevents model from being overconfident on ambiguous expressions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00" i="1">
                <a:solidFill>
                  <a:srgbClr val="6B6557"/>
                </a:solidFill>
              </a:rPr>
              <a:t>Especially important for Fear / Sad / Angry — which share subtle facial features.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27 / 00</a:t>
            </a:r>
          </a:p>
        </p:txBody>
      </p:sp>
    </p:spTree>
    <p:extLst>
      <p:ext uri="{BB962C8B-B14F-4D97-AF65-F5344CB8AC3E}">
        <p14:creationId xmlns:p14="http://schemas.microsoft.com/office/powerpoint/2010/main" val="1695138398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Experiments &amp; Results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Grid Search, Final Tuning, and Per-Emotion Performance</a:t>
            </a:r>
          </a:p>
        </p:txBody>
      </p:sp>
      <p:sp>
        <p:nvSpPr>
          <p:cNvPr id="5" name="C5"/>
          <p:cNvSpPr>
            <a:spLocks noGrp="1"/>
          </p:cNvSpPr>
          <p:nvPr/>
        </p:nvSpPr>
        <p:spPr>
          <a:xfrm>
            <a:off x="548640" y="1380000"/>
            <a:ext cx="8046720" cy="86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T6"/>
          <p:cNvSpPr/>
          <p:nvPr/>
        </p:nvSpPr>
        <p:spPr>
          <a:xfrm>
            <a:off x="610000" y="1420000"/>
            <a:ext cx="792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FER2013  —  4-WAY GRID SEARCH  (Augmentation • Learning Rate • Batch Size • Dropout)</a:t>
            </a:r>
          </a:p>
        </p:txBody>
      </p:sp>
      <p:sp>
        <p:nvSpPr>
          <p:cNvPr id="7" name="T7"/>
          <p:cNvSpPr/>
          <p:nvPr/>
        </p:nvSpPr>
        <p:spPr>
          <a:xfrm>
            <a:off x="610000" y="1690000"/>
            <a:ext cx="7920000" cy="4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50">
                <a:solidFill>
                  <a:srgbClr val="3C3A34"/>
                </a:solidFill>
              </a:rPr>
              <a:t>Config 1: No Aug | LR=1e-4 | BS=32 | Drop=0.3 → 64.8%     Config 2: Aug ON | LR=1e-4 | BS=32 | Drop=0.3 → 66.8% (WINNER)     Config 3: Aug ON | LR=3e-4 | BS=32 | Drop=0.3 → 66.7%     Config 4: Aug ON | LR=1e-4 | BS=64 | Drop=0.5 → 65.9%</a:t>
            </a:r>
          </a:p>
        </p:txBody>
      </p:sp>
      <p:sp>
        <p:nvSpPr>
          <p:cNvPr id="8" name="C8"/>
          <p:cNvSpPr>
            <a:spLocks noGrp="1"/>
          </p:cNvSpPr>
          <p:nvPr/>
        </p:nvSpPr>
        <p:spPr>
          <a:xfrm>
            <a:off x="548640" y="2320000"/>
            <a:ext cx="3900000" cy="2300000"/>
          </a:xfrm>
          <a:prstGeom prst="roundRect">
            <a:avLst>
              <a:gd name="adj" fmla="val 16667"/>
            </a:avLst>
          </a:prstGeom>
          <a:solidFill>
            <a:srgbClr val="15203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T9"/>
          <p:cNvSpPr/>
          <p:nvPr/>
        </p:nvSpPr>
        <p:spPr>
          <a:xfrm>
            <a:off x="610000" y="2360000"/>
            <a:ext cx="376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 b="1">
                <a:solidFill>
                  <a:srgbClr val="C9A84C"/>
                </a:solidFill>
              </a:rPr>
              <a:t>RAF-DB  —  FINAL RESULTS</a:t>
            </a:r>
          </a:p>
        </p:txBody>
      </p:sp>
      <p:sp>
        <p:nvSpPr>
          <p:cNvPr id="10" name="T10"/>
          <p:cNvSpPr/>
          <p:nvPr/>
        </p:nvSpPr>
        <p:spPr>
          <a:xfrm>
            <a:off x="610000" y="2630000"/>
            <a:ext cx="3760000" cy="5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>
                <a:solidFill>
                  <a:srgbClr val="C9A84C"/>
                </a:solidFill>
                <a:latin typeface="Georgia" pitchFamily="34" charset="0"/>
              </a:rPr>
              <a:t>78.29%</a:t>
            </a:r>
          </a:p>
        </p:txBody>
      </p:sp>
      <p:sp>
        <p:nvSpPr>
          <p:cNvPr id="11" name="T11"/>
          <p:cNvSpPr/>
          <p:nvPr/>
        </p:nvSpPr>
        <p:spPr>
          <a:xfrm>
            <a:off x="610000" y="3230000"/>
            <a:ext cx="376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>
                <a:solidFill>
                  <a:srgbClr val="D4C89A"/>
                </a:solidFill>
              </a:rPr>
              <a:t>Test Accuracy  —  RAF-DB  |  EfficientNet-B2</a:t>
            </a:r>
          </a:p>
        </p:txBody>
      </p:sp>
      <p:sp>
        <p:nvSpPr>
          <p:cNvPr id="12" name="T12"/>
          <p:cNvSpPr/>
          <p:nvPr/>
        </p:nvSpPr>
        <p:spPr>
          <a:xfrm>
            <a:off x="610000" y="3510000"/>
            <a:ext cx="3760000" cy="10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950">
                <a:solidFill>
                  <a:srgbClr val="D4C89A"/>
                </a:solidFill>
              </a:rPr>
              <a:t>Happy F1: 0.89  •  Neutral F1: 0.73  •  Sad F1: 0.69</a:t>
            </a:r>
          </a:p>
          <a:p>
            <a:pPr algn="ctr"/>
            <a:r>
              <a:rPr lang="en-US" sz="950">
                <a:solidFill>
                  <a:srgbClr val="D4C89A"/>
                </a:solidFill>
              </a:rPr>
              <a:t>Angry F1: 0.66  •  Surprise F1: 0.65  •  Fear F1: 0.54  •  Disgust F1: 0.50</a:t>
            </a:r>
          </a:p>
          <a:p>
            <a:pPr algn="ctr"/>
            <a:r>
              <a:rPr lang="en-US" sz="900" i="1">
                <a:solidFill>
                  <a:srgbClr val="A8862E"/>
                </a:solidFill>
              </a:rPr>
              <a:t>No overfitting  —  tight train/val gap throughout</a:t>
            </a:r>
          </a:p>
        </p:txBody>
      </p:sp>
      <p:sp>
        <p:nvSpPr>
          <p:cNvPr id="13" name="C13"/>
          <p:cNvSpPr>
            <a:spLocks noGrp="1"/>
          </p:cNvSpPr>
          <p:nvPr/>
        </p:nvSpPr>
        <p:spPr>
          <a:xfrm>
            <a:off x="4695360" y="2320000"/>
            <a:ext cx="3900000" cy="2300000"/>
          </a:xfrm>
          <a:prstGeom prst="roundRect">
            <a:avLst>
              <a:gd name="adj" fmla="val 16667"/>
            </a:avLst>
          </a:prstGeom>
          <a:solidFill>
            <a:srgbClr val="15203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T14"/>
          <p:cNvSpPr/>
          <p:nvPr/>
        </p:nvSpPr>
        <p:spPr>
          <a:xfrm>
            <a:off x="4757000" y="2360000"/>
            <a:ext cx="376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 b="1">
                <a:solidFill>
                  <a:srgbClr val="C9A84C"/>
                </a:solidFill>
              </a:rPr>
              <a:t>FER2013  —  FINAL RESULTS</a:t>
            </a:r>
          </a:p>
        </p:txBody>
      </p:sp>
      <p:sp>
        <p:nvSpPr>
          <p:cNvPr id="15" name="T15"/>
          <p:cNvSpPr/>
          <p:nvPr/>
        </p:nvSpPr>
        <p:spPr>
          <a:xfrm>
            <a:off x="4757000" y="2630000"/>
            <a:ext cx="3760000" cy="5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>
                <a:solidFill>
                  <a:srgbClr val="C9A84C"/>
                </a:solidFill>
                <a:latin typeface="Georgia" pitchFamily="34" charset="0"/>
              </a:rPr>
              <a:t>67.16%</a:t>
            </a:r>
          </a:p>
        </p:txBody>
      </p:sp>
      <p:sp>
        <p:nvSpPr>
          <p:cNvPr id="16" name="T16"/>
          <p:cNvSpPr/>
          <p:nvPr/>
        </p:nvSpPr>
        <p:spPr>
          <a:xfrm>
            <a:off x="4757000" y="3230000"/>
            <a:ext cx="376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>
                <a:solidFill>
                  <a:srgbClr val="D4C89A"/>
                </a:solidFill>
              </a:rPr>
              <a:t>Test Accuracy  —  FER2013  |  EfficientNet-B0</a:t>
            </a:r>
          </a:p>
        </p:txBody>
      </p:sp>
      <p:sp>
        <p:nvSpPr>
          <p:cNvPr id="17" name="T17"/>
          <p:cNvSpPr/>
          <p:nvPr/>
        </p:nvSpPr>
        <p:spPr>
          <a:xfrm>
            <a:off x="4757000" y="3510000"/>
            <a:ext cx="3760000" cy="10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950">
                <a:solidFill>
                  <a:srgbClr val="D4C89A"/>
                </a:solidFill>
              </a:rPr>
              <a:t>Happy F1: 0.87  •  Surprise F1: 0.78  •  Neutral F1: 0.63</a:t>
            </a:r>
          </a:p>
          <a:p>
            <a:pPr algn="ctr"/>
            <a:r>
              <a:rPr lang="en-US" sz="950">
                <a:solidFill>
                  <a:srgbClr val="D4C89A"/>
                </a:solidFill>
              </a:rPr>
              <a:t>Disgust F1: 0.60  •  Angry F1: 0.60  •  Sad F1: 0.57  •  Fear F1: 0.54</a:t>
            </a:r>
          </a:p>
          <a:p>
            <a:pPr algn="ctr"/>
            <a:r>
              <a:rPr lang="en-US" sz="900" i="1">
                <a:solidFill>
                  <a:srgbClr val="A8862E"/>
                </a:solidFill>
              </a:rPr>
              <a:t>Mild overfitting  —  inherent to noisy low-res data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28 / 00</a:t>
            </a:r>
          </a:p>
        </p:txBody>
      </p:sp>
    </p:spTree>
    <p:extLst>
      <p:ext uri="{BB962C8B-B14F-4D97-AF65-F5344CB8AC3E}">
        <p14:creationId xmlns:p14="http://schemas.microsoft.com/office/powerpoint/2010/main" val="2570773237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Interaction Architecture</a:t>
            </a:r>
            <a:endParaRPr lang="en-US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195581" y="1417320"/>
            <a:ext cx="8762635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r>
              <a:rPr lang="en-US" sz="1600" b="1">
                <a:solidFill>
                  <a:srgbClr val="A98D43"/>
                </a:solidFill>
                <a:ea typeface="+mn-lt"/>
                <a:cs typeface="+mn-lt"/>
              </a:rPr>
              <a:t>Every visitor interaction follows a fixed 3-stage pipeline: </a:t>
            </a:r>
          </a:p>
          <a:p>
            <a:pPr>
              <a:spcAft>
                <a:spcPts val="600"/>
              </a:spcAft>
            </a:pPr>
            <a:r>
              <a:rPr lang="en-US" sz="1300" i="1">
                <a:ea typeface="+mn-lt"/>
                <a:cs typeface="+mn-lt"/>
              </a:rPr>
              <a:t> </a:t>
            </a:r>
          </a:p>
          <a:p>
            <a:pPr marL="285750" indent="-285750">
              <a:buFont typeface="Arial"/>
              <a:buChar char="•"/>
            </a:pPr>
            <a:endParaRPr lang="en-US" sz="13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lang="en-US" sz="1300">
                <a:ea typeface="Calibri"/>
                <a:cs typeface="Calibri"/>
              </a:rPr>
              <a:t>Visitor speaks                                                                                                                                                                                  robot speaks</a:t>
            </a:r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i="1">
                <a:ea typeface="+mn-lt"/>
                <a:cs typeface="+mn-lt"/>
              </a:rPr>
              <a:t>Each stage feeds directly into the next — errors propagate forward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300" i="1">
                <a:ea typeface="+mn-lt"/>
                <a:cs typeface="+mn-lt"/>
              </a:rPr>
              <a:t>All three components share one critical requirement: strong Egyptian Arabic + English support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300" i="1">
                <a:ea typeface="+mn-lt"/>
                <a:cs typeface="+mn-lt"/>
              </a:rPr>
              <a:t>All three are free — zero cost for development and demos</a:t>
            </a:r>
            <a:endParaRPr lang="en-US"/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00</a:t>
            </a:r>
            <a:endParaRPr lang="en-US" sz="90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FD75E5-238D-12B6-E3D4-886DB292C4D4}"/>
              </a:ext>
            </a:extLst>
          </p:cNvPr>
          <p:cNvCxnSpPr>
            <a:cxnSpLocks/>
          </p:cNvCxnSpPr>
          <p:nvPr/>
        </p:nvCxnSpPr>
        <p:spPr>
          <a:xfrm flipV="1">
            <a:off x="5404290" y="2328350"/>
            <a:ext cx="444237" cy="1969"/>
          </a:xfrm>
          <a:prstGeom prst="straightConnector1">
            <a:avLst/>
          </a:prstGeom>
          <a:ln w="28575">
            <a:solidFill>
              <a:srgbClr val="B597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57D015-190F-FEE2-0080-2055E4977D4D}"/>
              </a:ext>
            </a:extLst>
          </p:cNvPr>
          <p:cNvCxnSpPr>
            <a:cxnSpLocks/>
          </p:cNvCxnSpPr>
          <p:nvPr/>
        </p:nvCxnSpPr>
        <p:spPr>
          <a:xfrm flipV="1">
            <a:off x="3007126" y="2323814"/>
            <a:ext cx="417022" cy="11039"/>
          </a:xfrm>
          <a:prstGeom prst="straightConnector1">
            <a:avLst/>
          </a:prstGeom>
          <a:ln w="28575">
            <a:solidFill>
              <a:srgbClr val="B597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BC2051-CCCA-D7ED-2853-9B73814FB7F7}"/>
              </a:ext>
            </a:extLst>
          </p:cNvPr>
          <p:cNvSpPr/>
          <p:nvPr/>
        </p:nvSpPr>
        <p:spPr>
          <a:xfrm>
            <a:off x="1011244" y="1870243"/>
            <a:ext cx="2004963" cy="916550"/>
          </a:xfrm>
          <a:prstGeom prst="roundRect">
            <a:avLst/>
          </a:prstGeom>
          <a:solidFill>
            <a:srgbClr val="A98D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Whisper Large V3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Speech-To-Text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2AA866-B059-530E-73FC-385F62CAE0A9}"/>
              </a:ext>
            </a:extLst>
          </p:cNvPr>
          <p:cNvSpPr/>
          <p:nvPr/>
        </p:nvSpPr>
        <p:spPr>
          <a:xfrm>
            <a:off x="3417480" y="1870243"/>
            <a:ext cx="2001335" cy="916550"/>
          </a:xfrm>
          <a:prstGeom prst="roundRect">
            <a:avLst/>
          </a:prstGeom>
          <a:solidFill>
            <a:srgbClr val="A98D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Gemini 2.5 Flash</a:t>
            </a:r>
            <a:endParaRPr lang="en-US"/>
          </a:p>
          <a:p>
            <a:pPr algn="ctr"/>
            <a:r>
              <a:rPr lang="en-US" sz="1100">
                <a:ea typeface="Calibri"/>
                <a:cs typeface="Calibri"/>
              </a:rPr>
              <a:t>Large </a:t>
            </a:r>
            <a:r>
              <a:rPr lang="en-US" sz="1100" err="1">
                <a:ea typeface="Calibri"/>
                <a:cs typeface="Calibri"/>
              </a:rPr>
              <a:t>Langauage</a:t>
            </a:r>
            <a:r>
              <a:rPr lang="en-US" sz="1100">
                <a:ea typeface="Calibri"/>
                <a:cs typeface="Calibri"/>
              </a:rPr>
              <a:t> Model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2CA8E3-E335-73E9-2BE3-F4FD90C36F55}"/>
              </a:ext>
            </a:extLst>
          </p:cNvPr>
          <p:cNvSpPr txBox="1"/>
          <p:nvPr/>
        </p:nvSpPr>
        <p:spPr>
          <a:xfrm>
            <a:off x="8291286" y="1974564"/>
            <a:ext cx="79828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000000"/>
                </a:solidFill>
                <a:ea typeface="+mn-lt"/>
                <a:cs typeface="+mn-lt"/>
              </a:rPr>
              <a:t>🔊 </a:t>
            </a:r>
            <a:endParaRPr lang="en-US">
              <a:ea typeface="Calibri"/>
              <a:cs typeface="Calibri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B98630-D136-C81E-1299-9A2D3BC852DF}"/>
              </a:ext>
            </a:extLst>
          </p:cNvPr>
          <p:cNvCxnSpPr>
            <a:cxnSpLocks/>
          </p:cNvCxnSpPr>
          <p:nvPr/>
        </p:nvCxnSpPr>
        <p:spPr>
          <a:xfrm>
            <a:off x="7844840" y="2323814"/>
            <a:ext cx="689166" cy="7103"/>
          </a:xfrm>
          <a:prstGeom prst="straightConnector1">
            <a:avLst/>
          </a:prstGeom>
          <a:ln w="28575">
            <a:solidFill>
              <a:srgbClr val="B597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A85BC1-8BD5-81CD-C3E7-DBBCE953EE4E}"/>
              </a:ext>
            </a:extLst>
          </p:cNvPr>
          <p:cNvSpPr/>
          <p:nvPr/>
        </p:nvSpPr>
        <p:spPr>
          <a:xfrm>
            <a:off x="5839887" y="1870243"/>
            <a:ext cx="2004252" cy="916194"/>
          </a:xfrm>
          <a:prstGeom prst="roundRect">
            <a:avLst/>
          </a:prstGeom>
          <a:solidFill>
            <a:srgbClr val="A98D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 err="1">
                <a:ea typeface="Calibri"/>
                <a:cs typeface="Calibri"/>
              </a:rPr>
              <a:t>ElevenLabs</a:t>
            </a:r>
            <a:r>
              <a:rPr lang="en-US" sz="1400" b="1">
                <a:ea typeface="Calibri"/>
                <a:cs typeface="Calibri"/>
              </a:rPr>
              <a:t> </a:t>
            </a:r>
            <a:r>
              <a:rPr lang="en-US" sz="1400">
                <a:ea typeface="+mn-lt"/>
                <a:cs typeface="+mn-lt"/>
              </a:rPr>
              <a:t>Multilingual </a:t>
            </a:r>
            <a:r>
              <a:rPr lang="en-US" sz="1400" b="1">
                <a:ea typeface="+mn-lt"/>
                <a:cs typeface="+mn-lt"/>
              </a:rPr>
              <a:t>V2</a:t>
            </a:r>
            <a:endParaRPr lang="en-US"/>
          </a:p>
          <a:p>
            <a:pPr algn="ctr"/>
            <a:r>
              <a:rPr lang="en-US" sz="1100">
                <a:ea typeface="Calibri"/>
                <a:cs typeface="Calibri"/>
              </a:rPr>
              <a:t>Text-to-Speech</a:t>
            </a:r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CC75A3-6F01-FA4D-7FB6-F2C80C47823C}"/>
              </a:ext>
            </a:extLst>
          </p:cNvPr>
          <p:cNvCxnSpPr/>
          <p:nvPr/>
        </p:nvCxnSpPr>
        <p:spPr>
          <a:xfrm>
            <a:off x="632685" y="2314743"/>
            <a:ext cx="380737" cy="25245"/>
          </a:xfrm>
          <a:prstGeom prst="straightConnector1">
            <a:avLst/>
          </a:prstGeom>
          <a:ln w="28575">
            <a:solidFill>
              <a:srgbClr val="B597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C5E6E7-1EE6-1DEA-77E5-533900A3E46D}"/>
              </a:ext>
            </a:extLst>
          </p:cNvPr>
          <p:cNvSpPr txBox="1"/>
          <p:nvPr/>
        </p:nvSpPr>
        <p:spPr>
          <a:xfrm>
            <a:off x="33803" y="1974564"/>
            <a:ext cx="6098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ea typeface="+mn-lt"/>
                <a:cs typeface="+mn-lt"/>
              </a:rPr>
              <a:t>🎤 </a:t>
            </a:r>
            <a:endParaRPr lang="en-US" sz="32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8125467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EB04D-35F3-ADAF-1B9A-EE75DD46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3BC3BA-9ABC-5F7F-F3C3-82A027470AC6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To Text (STT)</a:t>
            </a:r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AD8B66-907A-7C02-E80D-3D73826CEA8E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8CD719-10C9-7198-AF2E-D95B7238DFEB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026926-4AA7-523D-84A6-89A3BE81EB90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OpenAI Whisper Large V3 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Free and open-source — no API costs, runs fully locally on-device</a:t>
            </a:r>
            <a:endParaRPr lang="en-US" sz="1600">
              <a:solidFill>
                <a:srgbClr val="152035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Designed for noisy environments — critical for a busy museum with ambient sound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Runs offline — no internet dependency for this stage of the pipeline</a:t>
            </a: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2A3309-3968-26D1-358F-EA50B1BF6C34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22D641-7D62-08DD-A647-81DC5C524208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6D3012-9839-A9E2-32B3-A310E7D34FAA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00</a:t>
            </a:r>
            <a:endParaRPr lang="en-US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70A262-101E-8FBE-22D8-8F49F8BF2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750" y="3619500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08732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C026B-AF84-C2BC-4A55-23EBC1D1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70BDAE-DBA8-260D-B422-50C7DF64C0D5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To Text (STT)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5AB203-CAB7-AB47-147B-1685AEA31892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21D989-9416-E81D-A3EE-8514E36E01BE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892D4E-4E34-3E7B-50D5-4DE21FE84578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  <a:endParaRPr lang="en-US"/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C42378-5999-2A2A-9132-E78EDFF3F865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DA0C13-4B58-E17C-B139-6E6387D0EFF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2EC2DA-9B1A-B5F0-2D88-F3A169BBDDD2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00</a:t>
            </a:r>
            <a:endParaRPr lang="en-US" sz="90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02411A96-1A49-C932-6CD4-B8342852C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3620"/>
              </p:ext>
            </p:extLst>
          </p:nvPr>
        </p:nvGraphicFramePr>
        <p:xfrm>
          <a:off x="656470" y="1832682"/>
          <a:ext cx="8002069" cy="2682240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Deepgram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Nova-3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 API, weak Arabic dialect documentation, no offline mode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Google Chirp 2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Most expensive option ($16/1000 min), worst accuracy-to-cost ratio, cloud-only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AssemblyAI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Universal-2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Paid, Egyptian colloquial Arabic performance undocumented in literature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Azure Speech (cloud)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Paid, cloud-dependent, same concerns as Chirp 2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Facebook MMS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Not optimized for real-time interactive applications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Amazon Transcribe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No free tier for Arabic, limited dialect support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2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055324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8109C-BE4E-37AE-D40A-F561E3D1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612041-C71C-73BD-FD9E-A6E2845DBD64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Large Language Model (LLM)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4322C4-2C78-75EC-D545-0F6046CEF039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163141-2C7A-49B2-4B17-793AC1750DBB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3DCDA9-0AA5-7776-CC32-58C8A82ABD8C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Google Gemini 2.5 Flash</a:t>
            </a:r>
            <a:endParaRPr lang="en-US" b="1">
              <a:ea typeface="Calibri"/>
              <a:cs typeface="Calibri"/>
            </a:endParaRPr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Arabic and English are both Tier-1 supported languages — not an afterthought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Understands mid-sentence code-switching (visitor mixes Arabic and English naturally)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Optimized for speed — responds in 1–2 seconds, essential for real-time conversation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Behavior fully controllable through a </a:t>
            </a:r>
            <a:r>
              <a:rPr lang="en-US" sz="1600" b="1">
                <a:solidFill>
                  <a:srgbClr val="152035"/>
                </a:solidFill>
                <a:ea typeface="+mn-lt"/>
                <a:cs typeface="+mn-lt"/>
              </a:rPr>
              <a:t>system prompt</a:t>
            </a: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 that defines the robot's identity, language rules, answer length, and topic constraints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3F7790E-CE85-130E-716D-7E5082672ECB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E96EB1-8E8D-41AF-A271-AA80E362D8C8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B3DF76-BC2F-B4A7-2984-9D276149F844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00</a:t>
            </a:r>
            <a:endParaRPr lang="en-US" sz="90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413AF289-BEE2-E5A2-4A4A-8001030E8605}"/>
              </a:ext>
            </a:extLst>
          </p:cNvPr>
          <p:cNvSpPr/>
          <p:nvPr/>
        </p:nvSpPr>
        <p:spPr>
          <a:xfrm>
            <a:off x="586637" y="3513093"/>
            <a:ext cx="8110219" cy="1057002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600">
                <a:solidFill>
                  <a:srgbClr val="A98D43"/>
                </a:solidFill>
                <a:ea typeface="Calibri"/>
                <a:cs typeface="Calibri"/>
              </a:rPr>
              <a:t>System prompt is: </a:t>
            </a:r>
            <a:r>
              <a:rPr lang="en-US" sz="1600">
                <a:solidFill>
                  <a:srgbClr val="152035"/>
                </a:solidFill>
                <a:ea typeface="Calibri"/>
                <a:cs typeface="Calibri"/>
              </a:rPr>
              <a:t>A fixed instruction block that wraps every visitor question — invisible to the visitor. It transforms a general AI into </a:t>
            </a:r>
            <a:r>
              <a:rPr lang="en-US" sz="1600" b="1">
                <a:solidFill>
                  <a:srgbClr val="152035"/>
                </a:solidFill>
                <a:ea typeface="Calibri"/>
                <a:cs typeface="Calibri"/>
              </a:rPr>
              <a:t>THOTH</a:t>
            </a:r>
            <a:r>
              <a:rPr lang="en-US" sz="1600">
                <a:solidFill>
                  <a:srgbClr val="152035"/>
                </a:solidFill>
                <a:ea typeface="Calibri"/>
                <a:cs typeface="Calibri"/>
              </a:rPr>
              <a:t>, a named museum guide that speaks the visitor's language, stays on topic, and keeps answers concise. This is how real-world AI applications are built — not by training new models, but by carefully instructing existing ones.</a:t>
            </a:r>
            <a:endParaRPr lang="en-US" sz="1600">
              <a:ea typeface="Calibri"/>
              <a:cs typeface="Calibri"/>
            </a:endParaRPr>
          </a:p>
          <a:p>
            <a:endParaRPr>
              <a:ea typeface="Calibri"/>
              <a:cs typeface="Calibri"/>
            </a:endParaRPr>
          </a:p>
        </p:txBody>
      </p:sp>
      <p:pic>
        <p:nvPicPr>
          <p:cNvPr id="13" name="Picture 12" descr="A blue and purple diamond shaped object&#10;&#10;AI-generated content may be incorrect.">
            <a:extLst>
              <a:ext uri="{FF2B5EF4-FFF2-40B4-BE49-F238E27FC236}">
                <a16:creationId xmlns:a16="http://schemas.microsoft.com/office/drawing/2014/main" id="{AC0F255A-EAA2-C010-1E28-2FA54C40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464" y="353786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71449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A7061-10A9-A076-00C9-5387E9B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C0A41A-4999-61AA-DA69-CA8E1D78D5F4}"/>
              </a:ext>
            </a:extLst>
          </p:cNvPr>
          <p:cNvSpPr/>
          <p:nvPr/>
        </p:nvSpPr>
        <p:spPr>
          <a:xfrm>
            <a:off x="584925" y="592908"/>
            <a:ext cx="8010435" cy="33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Large Language Model (LLM)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2B3FD8-A081-BCAC-C6B1-496F6541351D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A2682D-E44E-0A2E-532A-7043FFF5FB5F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54CD91-D427-9FC5-04C4-C47615C0C67F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  <a:endParaRPr lang="en-US"/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B15A7BC-B869-2AD8-CB4F-7A8F42DA268D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094B96-3AB7-8A28-2958-52EFC58566FD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A93A1A-68B2-3EC3-32DC-7DDD2F50428D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00</a:t>
            </a:r>
            <a:endParaRPr lang="en-US" sz="90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BC0718CF-F7BD-99FD-1064-ED665803C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805944"/>
              </p:ext>
            </p:extLst>
          </p:nvPr>
        </p:nvGraphicFramePr>
        <p:xfrm>
          <a:off x="656470" y="1832682"/>
          <a:ext cx="8002069" cy="2369181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GPT-4o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Paid API after free tier, higher cost per token, no advantage in Arabic over Gemini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Claude (Anthropic)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No substantial free tier for development, Arabic support less documented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Llama 3.1 8B (local)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Requires GPU to run at acceptable speed — not feasible on current hardware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Qwen3-235B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Far too large for any local deployment, impractical for this project stage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Jais 70B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Arabic-specialized but 70B parameters — impossible to run locally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426658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77495-7C60-115C-D77D-D29526504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86A63E-69F6-1495-B767-A02B9520D7D5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Calibri"/>
                <a:cs typeface="Calibri"/>
              </a:rPr>
              <a:t>Text To Speech (TTS)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CCB398-60BE-4E15-CDEF-F873BDF74EDB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B8B7C2-F227-9EDA-4A2B-624503CE7843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B7DDCE-E4A6-367E-2071-6870AD04814F}"/>
              </a:ext>
            </a:extLst>
          </p:cNvPr>
          <p:cNvSpPr/>
          <p:nvPr/>
        </p:nvSpPr>
        <p:spPr>
          <a:xfrm>
            <a:off x="640080" y="1287923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 err="1">
                <a:solidFill>
                  <a:srgbClr val="000000"/>
                </a:solidFill>
                <a:ea typeface="+mn-lt"/>
                <a:cs typeface="+mn-lt"/>
              </a:rPr>
              <a:t>ElevenLabs</a:t>
            </a: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 Multilingual v2</a:t>
            </a:r>
            <a:endParaRPr lang="en-US" b="1">
              <a:ea typeface="Calibri"/>
              <a:cs typeface="Calibri"/>
            </a:endParaRPr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Highest voice naturalness among all evaluated options — visitors described it as the most "comfortable" and human-like</a:t>
            </a:r>
            <a:endParaRPr lang="en-US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Multilingual model handles Arabic and English in the same voice without switching engines</a:t>
            </a:r>
            <a:endParaRPr lang="en-US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MOS (Mean Opinion Score) above 4.0 across all content categories — consistently outperforms Azure in naturalness evaluations (</a:t>
            </a:r>
            <a:r>
              <a:rPr lang="en-US" sz="1600" err="1">
                <a:solidFill>
                  <a:srgbClr val="152035"/>
                </a:solidFill>
                <a:ea typeface="+mn-lt"/>
                <a:cs typeface="+mn-lt"/>
              </a:rPr>
              <a:t>Cartesia</a:t>
            </a: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 AI, 2025)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Free tier available — sufficient for development and demo purposes</a:t>
            </a: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 lvl="1"/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ED60B5F-D99E-0946-2EC8-632154FD2DDF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DCCB00-7028-6663-1AC4-22A7CE4316AF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3FD9C7-78FA-6399-36F3-56CBB76C32D8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00</a:t>
            </a:r>
            <a:endParaRPr lang="en-US" sz="9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E5CE4B-9EF1-1925-0B19-A8FC05E44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750" y="3637643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51242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87438-13E4-4DA8-E3CE-85AEFACE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D47E41-D2AD-79D3-3D1B-2B83B8E5D153}"/>
              </a:ext>
            </a:extLst>
          </p:cNvPr>
          <p:cNvSpPr/>
          <p:nvPr/>
        </p:nvSpPr>
        <p:spPr>
          <a:xfrm>
            <a:off x="684711" y="633986"/>
            <a:ext cx="8010435" cy="33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Text To Speech (TTS)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 b="1">
              <a:solidFill>
                <a:srgbClr val="152035"/>
              </a:solidFill>
              <a:ea typeface="+mn-lt"/>
              <a:cs typeface="+mn-lt"/>
            </a:endParaRPr>
          </a:p>
          <a:p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D12FE9-F462-3D19-6771-8B21BB1DEEED}"/>
              </a:ext>
            </a:extLst>
          </p:cNvPr>
          <p:cNvSpPr/>
          <p:nvPr/>
        </p:nvSpPr>
        <p:spPr>
          <a:xfrm>
            <a:off x="693782" y="566480"/>
            <a:ext cx="2509936" cy="10783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6B8E5C-2E12-94BF-8D3C-B3FB8F68D6D4}"/>
              </a:ext>
            </a:extLst>
          </p:cNvPr>
          <p:cNvSpPr/>
          <p:nvPr/>
        </p:nvSpPr>
        <p:spPr>
          <a:xfrm>
            <a:off x="693783" y="63413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2DF226-F7B5-FB82-0BE4-FFEEDBD5C4AC}"/>
              </a:ext>
            </a:extLst>
          </p:cNvPr>
          <p:cNvSpPr/>
          <p:nvPr/>
        </p:nvSpPr>
        <p:spPr>
          <a:xfrm>
            <a:off x="612863" y="927462"/>
            <a:ext cx="7918995" cy="40073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BCD6D27-30BD-0329-6054-484FB0AFF9F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1F22560-46A6-6A33-A536-D6E26EECAE37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44A3EB-6C23-D0C4-BF90-1BA0EFCED6EA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00</a:t>
            </a:r>
            <a:endParaRPr lang="en-US" sz="90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684D43DF-DC64-8F5D-D59F-33C22A38F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484525"/>
              </p:ext>
            </p:extLst>
          </p:nvPr>
        </p:nvGraphicFramePr>
        <p:xfrm>
          <a:off x="752149" y="1342311"/>
          <a:ext cx="8002068" cy="3177540"/>
        </p:xfrm>
        <a:graphic>
          <a:graphicData uri="http://schemas.openxmlformats.org/drawingml/2006/table">
            <a:tbl>
              <a:tblPr/>
              <a:tblGrid>
                <a:gridCol w="31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31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63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Edge-TTS (Shakir)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Mispronounced Egyptian colloquial words — "</a:t>
                      </a: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اتبنت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" and "Tutankhamun" rendered with MSA phonology, not Cairene dialect. Root cause: Shakir is trained on MSA, not Egyptian colloquial Arabic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1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gTTS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(Google TTS)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Robotic quality, no gender control for Arabic — eliminated immediately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64425"/>
                  </a:ext>
                </a:extLst>
              </a:tr>
              <a:tr h="5224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Egyptian dialect models (</a:t>
                      </a:r>
                      <a:r>
                        <a:rPr lang="en-US" sz="11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HuggingFace</a:t>
                      </a:r>
                      <a:r>
                        <a:rPr lang="en-US" sz="11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1100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Specifically trained on Egyptian colloquial Arabic which would have been </a:t>
                      </a:r>
                      <a:r>
                        <a:rPr lang="en-US" sz="11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ideal, but</a:t>
                      </a:r>
                      <a:r>
                        <a:rPr lang="en-US" sz="11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require GPU inference — not feasible on current hardware. Flagged as a </a:t>
                      </a:r>
                      <a:r>
                        <a:rPr lang="en-US" sz="11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Phase 2 upgrade path</a:t>
                      </a:r>
                      <a:endParaRPr lang="en-US" sz="1100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529978"/>
                  </a:ext>
                </a:extLst>
              </a:tr>
              <a:tr h="42047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Azure TTS (cloud API)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Paid after free credits, MOS scores below </a:t>
                      </a: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ElevenLabs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, same MSA phonology limitations as Edge-TTS Shakir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Fish Speech V1.5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Egyptian Arabic voice quality undocumented; no peer-reviewed validation for Arabic dialect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377917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00</a:t>
            </a:r>
            <a:endParaRPr lang="en-US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81719F-A4BC-E564-E66E-0D0901847CEE}"/>
              </a:ext>
            </a:extLst>
          </p:cNvPr>
          <p:cNvSpPr txBox="1"/>
          <p:nvPr/>
        </p:nvSpPr>
        <p:spPr>
          <a:xfrm>
            <a:off x="385762" y="1307305"/>
            <a:ext cx="7972424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Environment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Custom Gazebo Sim world generated from the occupancy grid map using automated wall extraction (14 rectangular collision bodies)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Map origin aligned between RViz and Gazebo to ensure coordinate consistency across both tools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A0195-788D-E9AB-91B7-A53EB1B9E093}"/>
              </a:ext>
            </a:extLst>
          </p:cNvPr>
          <p:cNvSpPr txBox="1"/>
          <p:nvPr/>
        </p:nvSpPr>
        <p:spPr>
          <a:xfrm>
            <a:off x="385762" y="2707481"/>
            <a:ext cx="804386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Robot &amp; Localization</a:t>
            </a:r>
            <a:endParaRPr lang="en-US"/>
          </a:p>
          <a:p>
            <a:pPr>
              <a:buFont typeface=""/>
              <a:buChar char="•"/>
            </a:pPr>
            <a:r>
              <a:rPr lang="en-US" sz="1600"/>
              <a:t>     TurtleBot3 Waffle simulated in Gazebo with AMCL (Adaptive Monte Carlo Localization) for real-time pose estimation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      Nav2 MPPI controller handles path planning and obstacle avoidance with tuned inflation radius for narrow museum corridors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47C4A-4915-14AB-581B-B5CF0426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F0524F-13F7-54A0-5FD0-A553738C40DE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693454-3076-3CFB-F2A6-CD59AC6F8E0A}"/>
              </a:ext>
            </a:extLst>
          </p:cNvPr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2358F1-219C-6CD3-63A6-C03D55DD7C34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ADC39F-580D-FB45-020D-8B0387E37516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9035F5-B2E2-C0E3-E439-7469451A5B9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CC01DA-0FA4-3A35-35CD-BEDD7E93F28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2A2AAB-8FD3-520B-65CA-4FCD0592BB70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00</a:t>
            </a:r>
            <a:endParaRPr lang="en-US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3B2E1-42A7-F157-8E00-1858FAF1F01F}"/>
              </a:ext>
            </a:extLst>
          </p:cNvPr>
          <p:cNvSpPr txBox="1"/>
          <p:nvPr/>
        </p:nvSpPr>
        <p:spPr>
          <a:xfrm>
            <a:off x="457200" y="1414463"/>
            <a:ext cx="82296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Exhibit Navigation</a:t>
            </a:r>
          </a:p>
          <a:p>
            <a:pPr>
              <a:buFont typeface=""/>
              <a:buChar char="•"/>
            </a:pPr>
            <a:r>
              <a:rPr lang="en-US" sz="1600"/>
              <a:t>3 exhibit waypoints published as colored </a:t>
            </a:r>
            <a:r>
              <a:rPr lang="en-US" sz="1600" err="1"/>
              <a:t>MarkerArray</a:t>
            </a:r>
            <a:r>
              <a:rPr lang="en-US" sz="1600"/>
              <a:t> on the RViz map (Tutankhamun Mask 🟡, Rosetta Stone 🔴, Royal Mummies Chamber 🔵)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Clicking any marker via the Nav2 Goal tool triggers autonomous navigation to the exact exhibit coordinates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8D714-2295-9CB1-024A-F2B8376283D1}"/>
              </a:ext>
            </a:extLst>
          </p:cNvPr>
          <p:cNvSpPr txBox="1"/>
          <p:nvPr/>
        </p:nvSpPr>
        <p:spPr>
          <a:xfrm>
            <a:off x="457200" y="2893219"/>
            <a:ext cx="839390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AI Narration &amp; Q&amp;A</a:t>
            </a:r>
          </a:p>
          <a:p>
            <a:pPr>
              <a:buFont typeface=""/>
              <a:buChar char="•"/>
            </a:pPr>
            <a:r>
              <a:rPr lang="en-US" sz="1600"/>
              <a:t>On arrival, robot plays a pre-cached exhibit narration generated  — zero delay on arrival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Narration ends with an invitation for questions; detects language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Robot answers visitor questions in the same language (Arabic or English) 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91063239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98E9A-3902-4D64-062A-AD2ACAEF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DEEB3F-8D3A-3C09-77DD-3B64D14EABAC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16777B-59D1-64F0-2D42-A77F9C184787}"/>
              </a:ext>
            </a:extLst>
          </p:cNvPr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A33DAC-4742-EB34-C749-AC0038B7374E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B65B1F-5604-6962-E440-BC7B8DFAF018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11DC19-EBB2-E1F7-7F39-CB16BF466927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9EB20B2-D040-E319-35CC-96DF437D1F31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5BC5F6-8584-EC5E-A403-6E5F25E91BEC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00</a:t>
            </a:r>
            <a:endParaRPr lang="en-US" sz="90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BB74CA-19C3-1E9A-501A-004EB3FC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79" y="1285875"/>
            <a:ext cx="7887373" cy="343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21738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237D1-8468-B8E7-EE35-E9072B69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A9AFC0-13A2-2452-A193-A6B66A1082BE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4BC9A7-0249-11D4-F620-A3F439B5C683}"/>
              </a:ext>
            </a:extLst>
          </p:cNvPr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E18D0A-B1FD-EE6A-0AFA-B92181BBAA49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E112B0-AD53-C44B-0503-556FDFB023F4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DBE59D-FEDE-DB8B-FE21-2A72B7ACDBAB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CC464F-A496-D5F7-594D-EBB131D38BAF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313F35-00D7-05FB-BA69-681104AB195F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00</a:t>
            </a:r>
            <a:endParaRPr lang="en-US" sz="900"/>
          </a:p>
        </p:txBody>
      </p:sp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E15A0B85-848C-4D72-90AC-4CF526AEA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97" y="1307306"/>
            <a:ext cx="822313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07126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Touchscreen Web Application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4727251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Abdallah Eldairouty  -  Full-Stack Web Application</a:t>
            </a:r>
            <a:endParaRPr lang="en-US" sz="1100"/>
          </a:p>
        </p:txBody>
      </p:sp>
      <p:pic>
        <p:nvPicPr>
          <p:cNvPr id="5" name="Image 0" descr="D:/Prog/Thoth/assets/screenshots/THOTH_HomePa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71600"/>
            <a:ext cx="42519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4251960" cy="3108960"/>
          </a:xfrm>
          <a:prstGeom prst="rect">
            <a:avLst/>
          </a:prstGeom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44988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home page — running locally against the real backend.</a:t>
            </a:r>
            <a:endParaRPr lang="en-US" sz="850"/>
          </a:p>
        </p:txBody>
      </p:sp>
      <p:sp>
        <p:nvSpPr>
          <p:cNvPr id="8" name="Text 5"/>
          <p:cNvSpPr/>
          <p:nvPr/>
        </p:nvSpPr>
        <p:spPr>
          <a:xfrm>
            <a:off x="4937760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visitor's window into the museum.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502920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architecture, not a mock-up.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on a kiosk, a phone, or the robot.</a:t>
            </a:r>
            <a:endParaRPr lang="en-US" sz="1200">
              <a:solidFill>
                <a:srgbClr val="ECE4D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content resolved server-side — frontend stays simple.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calls go through the backend — easy to swap providers.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the LLM chat to the vision models — THOTH adapts how it speaks to who's in front of it (mood + age).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same ROS 2 navigation and simulation we built. 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2" name="Text 9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 — Architecture &amp; Pages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108799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98D43"/>
                </a:solidFill>
                <a:latin typeface="Georgia"/>
                <a:ea typeface="Georgia" pitchFamily="34" charset="-122"/>
                <a:cs typeface="Georgia" pitchFamily="34" charset="-120"/>
              </a:rPr>
              <a:t>Frontend</a:t>
            </a:r>
            <a:endParaRPr lang="en-US" sz="1100">
              <a:solidFill>
                <a:srgbClr val="A98D43"/>
              </a:solidFill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574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Vite  ·  TypeScript  ·  Tailwind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13232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05740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Pydantic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822960" y="242316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3232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Layer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20574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 ·  AI orchestration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822960" y="297180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323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20574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 ·  Alembic  ·  PostgreSQL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822960" y="352044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3611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Services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205740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·  Whisper  ·  edge-tts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800600" y="14173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0328" y="1417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621792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language switch, quick actions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800600" y="18745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0328" y="1874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Exhibits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21792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filter by hall, era, category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800600" y="23317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910328" y="2331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 Detail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217920" y="2331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media, audio narration, chat link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800600" y="27889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10328" y="2788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Museum Map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6217920" y="2788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robot marker, route preview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4800600" y="32461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910328" y="3246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THOTH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6217920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chat, plays back TTS reply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4800600" y="37033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910328" y="3703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6217920" y="3703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font size, captions, audio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86C1B-4411-9BAC-B04B-6593C2D8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218B54-4F95-D06C-6FAF-5DC40F356D25}"/>
              </a:ext>
            </a:extLst>
          </p:cNvPr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B21828-71ED-FC28-3E3B-B414FD03B250}"/>
              </a:ext>
            </a:extLst>
          </p:cNvPr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00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1E03F55-6975-A66B-CE6E-666A96118ACF}"/>
              </a:ext>
            </a:extLst>
          </p:cNvPr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D89E869-8269-5B15-F3E0-E0D3548B222C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E7B23B2-6D34-B22D-2823-ECF85BC3BCA9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55838C3-06CD-7CDD-47CE-4C82DD59D407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00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833875234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42480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13816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 ·  </a:t>
            </a:r>
            <a:r>
              <a:rPr lang="en-US" sz="110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multilingual guide that adapts to every visitor — built for museums, but ready to serve airports, hospitals, malls, campuses, and expos with the same platform.</a:t>
            </a:r>
          </a:p>
        </p:txBody>
      </p:sp>
      <p:sp>
        <p:nvSpPr>
          <p:cNvPr id="6" name="Shape 4"/>
          <p:cNvSpPr/>
          <p:nvPr/>
        </p:nvSpPr>
        <p:spPr>
          <a:xfrm>
            <a:off x="502920" y="176479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Streams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657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200"/>
              </a:spcAft>
              <a:buSzPct val="100000"/>
              <a:buFontTx/>
              <a:buChar char="●"/>
            </a:pPr>
            <a:r>
              <a:rPr lang="en-US" sz="1000">
                <a:solidFill>
                  <a:srgbClr val="152035"/>
                </a:solidFill>
                <a:latin typeface="Calibri"/>
                <a:ea typeface="Calibri"/>
                <a:cs typeface="Calibri"/>
              </a:rPr>
              <a:t>Product Sales</a:t>
            </a:r>
            <a:endParaRPr lang="en-US" sz="1000">
              <a:solidFill>
                <a:srgbClr val="152035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contract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exhibit content packs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/>
                <a:ea typeface="Calibri"/>
                <a:cs typeface="Calibri"/>
              </a:rPr>
              <a:t>Visitor analytics dashboard/Subscription based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ea typeface="Calibri"/>
                <a:cs typeface="Calibri"/>
              </a:rPr>
              <a:t>Data monetization (selling visitor analytics to </a:t>
            </a:r>
            <a:r>
              <a:rPr lang="en-US" sz="1000" err="1">
                <a:solidFill>
                  <a:srgbClr val="152035"/>
                </a:solidFill>
                <a:ea typeface="Calibri"/>
                <a:cs typeface="Calibri"/>
              </a:rPr>
              <a:t>r&amp;d</a:t>
            </a:r>
            <a:r>
              <a:rPr lang="en-US" sz="1000">
                <a:solidFill>
                  <a:srgbClr val="152035"/>
                </a:solidFill>
                <a:ea typeface="Calibri"/>
                <a:cs typeface="Calibri"/>
              </a:rPr>
              <a:t> firms)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76479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Customers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&amp; heritage sites (primary — GEM)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&amp; metro stations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medical campuses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Expos, malls &amp; smart-city installations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Structure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200"/>
              </a:spcAft>
              <a:buSzPct val="100000"/>
              <a:buFontTx/>
              <a:buChar char="●"/>
            </a:pPr>
            <a:r>
              <a:rPr lang="en-US" sz="1000">
                <a:solidFill>
                  <a:srgbClr val="152035"/>
                </a:solidFill>
                <a:ea typeface="Calibri"/>
                <a:cs typeface="Calibri"/>
              </a:rPr>
              <a:t>Manufacturing 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anose="020F0502020204030204"/>
                <a:ea typeface="Calibri"/>
                <a:cs typeface="Calibri"/>
              </a:rPr>
              <a:t>R&amp;D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pack (museum / airport / hospital / retail)</a:t>
            </a:r>
            <a:endParaRPr lang="en-US" sz="1000">
              <a:solidFill>
                <a:srgbClr val="ECE4D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contract</a:t>
            </a:r>
          </a:p>
          <a:p>
            <a:pPr marL="342900" indent="-342900">
              <a:spcAft>
                <a:spcPts val="200"/>
              </a:spcAft>
              <a:buSzPct val="100000"/>
              <a:buFontTx/>
              <a:buChar char="●"/>
            </a:pPr>
            <a:r>
              <a:rPr lang="en-US" sz="1000">
                <a:solidFill>
                  <a:srgbClr val="152035"/>
                </a:solidFill>
                <a:latin typeface="Calibri"/>
                <a:ea typeface="Calibri"/>
                <a:cs typeface="Calibri"/>
              </a:rPr>
              <a:t>Cloud Services</a:t>
            </a:r>
            <a:endParaRPr lang="en-US" sz="1000">
              <a:solidFill>
                <a:srgbClr val="1520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327355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46320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tourism partnerships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fairs &amp; tech expos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 per industry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sales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4784746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11793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0"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00</a:t>
            </a:r>
            <a:endParaRPr lang="en-US" sz="900"/>
          </a:p>
        </p:txBody>
      </p:sp>
      <p:sp>
        <p:nvSpPr>
          <p:cNvPr id="24" name="TextBox 23"/>
          <p:cNvSpPr txBox="1"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0" i="1" spc="600">
                <a:solidFill>
                  <a:srgbClr val="152035"/>
                </a:solidFill>
                <a:latin typeface="Georgia"/>
              </a:rPr>
              <a:t>Gantt Chart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3703320"/>
            <a:ext cx="182880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 — Grad I &amp; Grad II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5890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201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6B6557"/>
                </a:solidFill>
                <a:latin typeface="Calibri"/>
                <a:ea typeface="Calibri"/>
                <a:cs typeface="Calibri"/>
              </a:rPr>
              <a:t>Work across 12 months — Grad I delivered Feb–May, Grad II runs Jun–Jan. </a:t>
            </a:r>
            <a:r>
              <a:rPr lang="en-US" sz="11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(Remove June – Sep Make it clear from the y axis what will be done in project 2 name it </a:t>
            </a:r>
            <a:r>
              <a:rPr lang="en-US" sz="1100" i="1" dirty="0" err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peokect</a:t>
            </a:r>
            <a:r>
              <a:rPr lang="en-US" sz="1100" i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 1 and project 2 not grad 1 and grad 2)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54" name="Shape 5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00</a:t>
            </a:r>
            <a:endParaRPr lang="en-US" sz="900"/>
          </a:p>
        </p:txBody>
      </p:sp>
      <p:sp>
        <p:nvSpPr>
          <p:cNvPr id="57" name="TextBox 56"/>
          <p:cNvSpPr txBox="1"/>
          <p:nvPr/>
        </p:nvSpPr>
        <p:spPr>
          <a:xfrm>
            <a:off x="23774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Feb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994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138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Apr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4335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532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729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926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Aug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123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Sep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19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Oct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7516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Nov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971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Dec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191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Jan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377440" y="1709928"/>
            <a:ext cx="626364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465320" y="1600200"/>
            <a:ext cx="0" cy="2743200"/>
          </a:xfrm>
          <a:prstGeom prst="line">
            <a:avLst/>
          </a:prstGeom>
          <a:ln w="6350">
            <a:solidFill>
              <a:srgbClr val="ECE4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377440" y="1234439"/>
            <a:ext cx="2087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65320" y="1234439"/>
            <a:ext cx="417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7647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Research &amp; Lit Survey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377440" y="192024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414016" y="1819656"/>
            <a:ext cx="970787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" y="2061463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Web App (Grad I)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377440" y="2216911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384803" y="2116328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02920" y="23581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AI / Voice (Grad I)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377440" y="2513584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384803" y="2413000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" y="26548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Vision (Mood + Age)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377440" y="2810256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384803" y="2709672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" y="29514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Sim &amp; Navigation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377440" y="3106928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3384803" y="3006344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02920" y="3248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Hardware Assembly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377440" y="340360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 flipH="1">
            <a:off x="6416839" y="3342277"/>
            <a:ext cx="1127867" cy="19819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02920" y="354482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Full Integration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377440" y="3700272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5023866" y="3599688"/>
            <a:ext cx="2536698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02920" y="3841495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Testing in Museum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377440" y="3996943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633715" y="3896359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2920" y="4138167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Final Demo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377440" y="4293615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8155685" y="4193031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377440" y="4526280"/>
            <a:ext cx="201168" cy="10972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5176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Completed (Grad I)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526280"/>
            <a:ext cx="201168" cy="10972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5488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In Progress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83680" y="4526280"/>
            <a:ext cx="201168" cy="10972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85800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Planned (Grad II)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3146E-FA58-F2F0-5CE1-AB28BDD7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805BA2-A55A-31AF-4549-45120D67926E}"/>
              </a:ext>
            </a:extLst>
          </p:cNvPr>
          <p:cNvSpPr/>
          <p:nvPr/>
        </p:nvSpPr>
        <p:spPr>
          <a:xfrm>
            <a:off x="457200" y="611793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/>
              </a:rPr>
              <a:t>08</a:t>
            </a:r>
            <a:endParaRPr lang="en-US" sz="20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3D1765-3F35-E35C-C5D7-5341BB9A4CBE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80A39A-962F-B0AF-AA18-6D2E1BDEE50B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94E1B5-B6A8-301D-1E3C-FDEB6A2C6DC9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00</a:t>
            </a:r>
            <a:endParaRPr lang="en-US" sz="9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C56A08-098F-E004-7918-023196D4C1C2}"/>
              </a:ext>
            </a:extLst>
          </p:cNvPr>
          <p:cNvSpPr txBox="1"/>
          <p:nvPr/>
        </p:nvSpPr>
        <p:spPr>
          <a:xfrm>
            <a:off x="457200" y="3129587"/>
            <a:ext cx="82296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i="1" spc="600">
                <a:solidFill>
                  <a:srgbClr val="152035"/>
                </a:solidFill>
                <a:latin typeface="Georgia"/>
              </a:rPr>
              <a:t>ETHICS</a:t>
            </a:r>
            <a:endParaRPr lang="en-US"/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6E8BB16A-82C0-9C63-3F97-C5C4E2B6BEA1}"/>
              </a:ext>
            </a:extLst>
          </p:cNvPr>
          <p:cNvCxnSpPr/>
          <p:nvPr/>
        </p:nvCxnSpPr>
        <p:spPr>
          <a:xfrm>
            <a:off x="3657600" y="3703320"/>
            <a:ext cx="182880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390554"/>
      </p:ext>
    </p:extLst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444DD-A8C9-02BA-7839-6574CD1F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D36EE8-6298-C441-3280-095A631367A9}"/>
              </a:ext>
            </a:extLst>
          </p:cNvPr>
          <p:cNvSpPr/>
          <p:nvPr/>
        </p:nvSpPr>
        <p:spPr>
          <a:xfrm>
            <a:off x="276496" y="278362"/>
            <a:ext cx="8064863" cy="439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Ethics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29E0EF-5580-D857-9DE4-412426D00E4F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>
              <a:solidFill>
                <a:srgbClr val="6B6557"/>
              </a:solidFill>
              <a:ea typeface="Calibri"/>
              <a:cs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4890C1-FFE3-9D63-8B2D-A33D0975105E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EDCB39-BAB0-1109-F703-1C9E27BDC3BC}"/>
              </a:ext>
            </a:extLst>
          </p:cNvPr>
          <p:cNvSpPr/>
          <p:nvPr/>
        </p:nvSpPr>
        <p:spPr>
          <a:xfrm>
            <a:off x="457200" y="4709378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C6A910-4A03-C6F8-E959-9E9C4A3F72B5}"/>
              </a:ext>
            </a:extLst>
          </p:cNvPr>
          <p:cNvSpPr/>
          <p:nvPr/>
        </p:nvSpPr>
        <p:spPr>
          <a:xfrm>
            <a:off x="457200" y="475524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840E99F-C92D-6079-B32F-34A0108EF249}"/>
              </a:ext>
            </a:extLst>
          </p:cNvPr>
          <p:cNvSpPr/>
          <p:nvPr/>
        </p:nvSpPr>
        <p:spPr>
          <a:xfrm>
            <a:off x="6858000" y="475524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612B920A-0CE1-E11D-8020-6F7AFF071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770657"/>
              </p:ext>
            </p:extLst>
          </p:nvPr>
        </p:nvGraphicFramePr>
        <p:xfrm>
          <a:off x="275469" y="1034396"/>
          <a:ext cx="8597804" cy="3025140"/>
        </p:xfrm>
        <a:graphic>
          <a:graphicData uri="http://schemas.openxmlformats.org/drawingml/2006/table">
            <a:tbl>
              <a:tblPr/>
              <a:tblGrid>
                <a:gridCol w="3377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72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 dirty="0">
                          <a:solidFill>
                            <a:srgbClr val="F7F2E7"/>
                          </a:solidFill>
                        </a:rPr>
                        <a:t>Concern</a:t>
                      </a:r>
                      <a:r>
                        <a:rPr lang="en-US" sz="1150" b="0" i="0" u="none" strike="noStrike" noProof="0" dirty="0">
                          <a:solidFill>
                            <a:srgbClr val="FF0000"/>
                          </a:solidFill>
                        </a:rPr>
                        <a:t> (add the usage of </a:t>
                      </a:r>
                      <a:r>
                        <a:rPr lang="en-US" sz="1150" b="0" i="0" u="none" strike="noStrike" noProof="0" dirty="0" err="1">
                          <a:solidFill>
                            <a:srgbClr val="FF0000"/>
                          </a:solidFill>
                        </a:rPr>
                        <a:t>open source</a:t>
                      </a:r>
                      <a:r>
                        <a:rPr lang="en-US" sz="1150" b="0" i="0" u="none" strike="noStrike" noProof="0" dirty="0">
                          <a:solidFill>
                            <a:srgbClr val="FF0000"/>
                          </a:solidFill>
                        </a:rPr>
                        <a:t> tools)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THOTH's Approach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Facial Data Privacy</a:t>
                      </a:r>
                      <a:endParaRPr lang="en-US" b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Emotion and age detection run entirely in real-time inference — no facial images are stored, transmitted, or logged at any point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Visitor Consent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Visitors are informed via signage that the robot uses a camera; interaction is always opt-in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Inclusivity</a:t>
                      </a:r>
                      <a:endParaRPr lang="en-US" b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Designed to serve all visitors — slower speech, larger text, multilingual support, and wheelchair-accessible height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Physical Safety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dirty="0">
                          <a:solidFill>
                            <a:schemeClr val="tx1"/>
                          </a:solidFill>
                        </a:rPr>
                        <a:t>Robot stops immediately upon obstacle detection; operates at low safe speeds in crowded spaces; emergency stop always available</a:t>
                      </a:r>
                      <a:endParaRPr lang="en-US" dirty="0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24027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Cultural Sensitivity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dirty="0">
                          <a:solidFill>
                            <a:schemeClr val="tx1"/>
                          </a:solidFill>
                        </a:rPr>
                        <a:t>Content is reviewed to ensure accurate, respectful representation of Egyptian cultural heritage</a:t>
                      </a:r>
                      <a:endParaRPr lang="en-US" dirty="0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725180"/>
                  </a:ext>
                </a:extLst>
              </a:tr>
            </a:tbl>
          </a:graphicData>
        </a:graphic>
      </p:graphicFrame>
      <p:sp>
        <p:nvSpPr>
          <p:cNvPr id="10" name="Shape 2">
            <a:extLst>
              <a:ext uri="{FF2B5EF4-FFF2-40B4-BE49-F238E27FC236}">
                <a16:creationId xmlns:a16="http://schemas.microsoft.com/office/drawing/2014/main" id="{C1A74190-6CF3-D84F-7CD0-13D901E16D34}"/>
              </a:ext>
            </a:extLst>
          </p:cNvPr>
          <p:cNvSpPr/>
          <p:nvPr/>
        </p:nvSpPr>
        <p:spPr>
          <a:xfrm>
            <a:off x="550351" y="4193451"/>
            <a:ext cx="8046720" cy="376646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150" i="1">
                <a:solidFill>
                  <a:srgbClr val="A98D43"/>
                </a:solidFill>
                <a:ea typeface="+mn-lt"/>
                <a:cs typeface="+mn-lt"/>
              </a:rPr>
              <a:t>THOTH is designed with privacy-first principles — no visitor data is stored, and all AI inference happens on-device in real time.</a:t>
            </a:r>
            <a:endParaRPr lang="en-US" sz="1150" i="1">
              <a:solidFill>
                <a:srgbClr val="A98D43"/>
              </a:solidFill>
              <a:ea typeface="Calibri"/>
              <a:cs typeface="Calibri"/>
            </a:endParaRPr>
          </a:p>
        </p:txBody>
      </p:sp>
      <p:cxnSp>
        <p:nvCxnSpPr>
          <p:cNvPr id="17" name="Connector 24">
            <a:extLst>
              <a:ext uri="{FF2B5EF4-FFF2-40B4-BE49-F238E27FC236}">
                <a16:creationId xmlns:a16="http://schemas.microsoft.com/office/drawing/2014/main" id="{4488F8D6-21FE-DD73-7F30-ED3113F3BE70}"/>
              </a:ext>
            </a:extLst>
          </p:cNvPr>
          <p:cNvCxnSpPr/>
          <p:nvPr/>
        </p:nvCxnSpPr>
        <p:spPr>
          <a:xfrm flipV="1">
            <a:off x="275117" y="719558"/>
            <a:ext cx="1044649" cy="1329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577274"/>
      </p:ext>
    </p:extLst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0" b="1" kern="0" spc="600" dirty="0">
              <a:solidFill>
                <a:srgbClr val="152035"/>
              </a:solidFill>
              <a:latin typeface="Georgia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i="1" kern="0" spc="600">
                <a:solidFill>
                  <a:srgbClr val="FF0000"/>
                </a:solidFill>
                <a:latin typeface="Georgia"/>
              </a:rPr>
              <a:t>Web App Demo Videos </a:t>
            </a:r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/>
          </a:p>
        </p:txBody>
      </p:sp>
      <p:sp>
        <p:nvSpPr>
          <p:cNvPr id="3" name="Shape 1"/>
          <p:cNvSpPr/>
          <p:nvPr/>
        </p:nvSpPr>
        <p:spPr>
          <a:xfrm>
            <a:off x="370332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89204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61688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26280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690872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kern="0" spc="3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 — Smart Museum Guide Robot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kern="0" spc="400">
                <a:solidFill>
                  <a:srgbClr val="A8862E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github.com/MohamedEldairouty/THOTH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latin typeface="Calibri"/>
                <a:ea typeface="Calibri"/>
                <a:cs typeface="Calibri"/>
              </a:rPr>
              <a:t>32 / 00 </a:t>
            </a:r>
            <a:r>
              <a:rPr lang="en-US" sz="90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(fix all footer numbers now)</a:t>
            </a:r>
            <a:endParaRPr lang="en-US" sz="9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51</Slides>
  <Notes>46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THOTH — Smart Museum Guide Robot</dc:title>
  <dc:subject>PptxGenJS Presentation</dc:subject>
  <dc:creator>THOTH Team</dc:creator>
  <cp:revision>376</cp:revision>
  <dcterms:created xsi:type="dcterms:W3CDTF">2026-05-19T17:57:45Z</dcterms:created>
  <dcterms:modified xsi:type="dcterms:W3CDTF">2026-05-26T21:25:53Z</dcterms:modified>
</cp:coreProperties>
</file>